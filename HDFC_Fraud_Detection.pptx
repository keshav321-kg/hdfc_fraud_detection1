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66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A2540"/>
                </a:solidFill>
                <a:latin typeface="Calibri"/>
              </a:defRPr>
            </a:pPr>
            <a:r>
              <a:rPr lang="en-US" sz="1200" b="0" i="0" u="none" strike="noStrike">
                <a:solidFill>
                  <a:srgbClr val="0A2540"/>
                </a:solidFill>
                <a:latin typeface="Calibri"/>
              </a:rPr>
              <a:t>Fraud reported by Indian banks (₹ crore)</a:t>
            </a:r>
          </a:p>
        </c:rich>
      </c:tx>
      <c:overlay val="0"/>
    </c:title>
    <c:autoTitleDeleted val="0"/>
    <c:plotArea>
      <c:layout/>
      <c:barChart>
        <c:barDir val="col"/>
        <c:grouping val="clustered"/>
        <c:varyColors val="0"/>
        <c:ser>
          <c:idx val="0"/>
          <c:order val="0"/>
          <c:tx>
            <c:strRef>
              <c:f>Sheet1!$B$1</c:f>
              <c:strCache>
                <c:ptCount val="1"/>
                <c:pt idx="0">
                  <c:v>Fraud amount (₹ crore)</c:v>
                </c:pt>
              </c:strCache>
            </c:strRef>
          </c:tx>
          <c:spPr>
            <a:solidFill>
              <a:srgbClr val="004C8F"/>
            </a:solidFill>
            <a:effectLst/>
          </c:spPr>
          <c:invertIfNegative val="0"/>
          <c:dLbls>
            <c:numFmt formatCode="#,##0" sourceLinked="0"/>
            <c:spPr>
              <a:noFill/>
              <a:ln>
                <a:noFill/>
              </a:ln>
              <a:effectLst/>
            </c:spPr>
            <c:txPr>
              <a:bodyPr/>
              <a:lstStyle/>
              <a:p>
                <a:pPr>
                  <a:defRPr sz="1000" b="0" i="0" u="none" strike="noStrike">
                    <a:solidFill>
                      <a:srgbClr val="0A254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FY24</c:v>
                </c:pt>
                <c:pt idx="1">
                  <c:v>FY25</c:v>
                </c:pt>
                <c:pt idx="2">
                  <c:v>FY26</c:v>
                </c:pt>
              </c:strCache>
            </c:strRef>
          </c:cat>
          <c:val>
            <c:numRef>
              <c:f>Sheet1!$B$2:$B$4</c:f>
              <c:numCache>
                <c:formatCode>General</c:formatCode>
                <c:ptCount val="3"/>
                <c:pt idx="0">
                  <c:v>13930</c:v>
                </c:pt>
                <c:pt idx="1">
                  <c:v>36014</c:v>
                </c:pt>
                <c:pt idx="2">
                  <c:v>48021</c:v>
                </c:pt>
              </c:numCache>
            </c:numRef>
          </c:val>
          <c:extLst>
            <c:ext xmlns:c16="http://schemas.microsoft.com/office/drawing/2014/chart" uri="{C3380CC4-5D6E-409C-BE32-E72D297353CC}">
              <c16:uniqueId val="{00000000-8073-44E5-8FF9-4C303FEC35AA}"/>
            </c:ext>
          </c:extLst>
        </c:ser>
        <c:dLbls>
          <c:showLegendKey val="0"/>
          <c:showVal val="1"/>
          <c:showCatName val="0"/>
          <c:showSerName val="0"/>
          <c:showPercent val="0"/>
          <c:showBubbleSize val="0"/>
        </c:dLbls>
        <c:gapWidth val="1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7C"/>
                </a:solidFill>
                <a:latin typeface="Calibri"/>
              </a:defRPr>
            </a:pPr>
            <a:endParaRPr lang="en-US"/>
          </a:p>
        </c:txPr>
        <c:crossAx val="2094734552"/>
        <c:crosses val="autoZero"/>
        <c:auto val="1"/>
        <c:lblAlgn val="ctr"/>
        <c:lblOffset val="100"/>
        <c:noMultiLvlLbl val="1"/>
      </c:catAx>
      <c:valAx>
        <c:axId val="2094734552"/>
        <c:scaling>
          <c:orientation val="minMax"/>
          <c:max val="6000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B7C"/>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294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HDFC Bank is India's largest private sector bank, and fraud in digital payments is a rapidly growing business risk. This case study examines how machine learning can be applied to detect fraudulent transactions in real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scale first — the size of the customer base is exactly why manual fraud review cannot work. 100 million customers generating millions of transactions daily is a volume problem before it is a security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defend the chart: the RBI numbers include frauds reported this year but occurring in earlier years, so they are reporting-year figures, not occurrence-year figures. That caveat is deliberate.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imbalance point is the single most examinable idea on this slide. If asked why accuracy is a bad metric here, explain that a model predicting 'no fraud' for every transaction scores above 99% accuracy while catching nothing.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deep learning for everything: explain the interpretability trade-off. RBI expects banks to be able to justify why a customer's transaction was blocked, which favours tree-based or regression models with explainability layers such as SHAP.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examiner through the five boxes in order, then use the worked example. The example is the part that proves you understand the model rather than just the diagram.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a specific percentage improvement for HDFC Bank — the bank has not published fraud detection rates. Frame benefits as expected outcomes and be honest about that if questioned. That honesty scores better than an invented statistic.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 question on bias. A concrete example: a customer who travels frequently for work, or one who has recently moved cities, may look anomalous to the model purely because of a legitimate change in behaviour.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prompt fed a specific slide: prompt 1 informed the AI/ML Solution slide, prompt 2 informed the Business Problem chart, prompt 3 informed the Company Overview stat cards.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drawn from the Prompt Portfolio document. Be ready to explain in your own words why the blog claims were unverifiable and what specifically the SEC filing did and did not confirm.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last line. The point that lands with an examiner is that the constraint is governance and data quality, not algorithms.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your name and GitHub link before submitting. Make sure the repository actually contains the PPT/PDF, this case study, the prompt portfolio, references and README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04C8F"/>
          </a:solidFill>
          <a:ln/>
        </p:spPr>
      </p:sp>
      <p:sp>
        <p:nvSpPr>
          <p:cNvPr id="3" name="Shape 1"/>
          <p:cNvSpPr/>
          <p:nvPr/>
        </p:nvSpPr>
        <p:spPr>
          <a:xfrm>
            <a:off x="-1371600" y="3931920"/>
            <a:ext cx="4206240" cy="4206240"/>
          </a:xfrm>
          <a:prstGeom prst="ellipse">
            <a:avLst/>
          </a:prstGeom>
          <a:solidFill>
            <a:srgbClr val="0A2540">
              <a:alpha val="45000"/>
            </a:srgbClr>
          </a:solidFill>
          <a:ln/>
        </p:spPr>
      </p:sp>
      <p:sp>
        <p:nvSpPr>
          <p:cNvPr id="4" name="Shape 2"/>
          <p:cNvSpPr/>
          <p:nvPr/>
        </p:nvSpPr>
        <p:spPr>
          <a:xfrm>
            <a:off x="1920240" y="-1371600"/>
            <a:ext cx="2926080" cy="2926080"/>
          </a:xfrm>
          <a:prstGeom prst="ellipse">
            <a:avLst/>
          </a:prstGeom>
          <a:solidFill>
            <a:srgbClr val="FFFFFF">
              <a:alpha val="12000"/>
            </a:srgbClr>
          </a:solidFill>
          <a:ln/>
        </p:spPr>
      </p:sp>
      <p:sp>
        <p:nvSpPr>
          <p:cNvPr id="5" name="Text 3"/>
          <p:cNvSpPr txBox="1"/>
          <p:nvPr/>
        </p:nvSpPr>
        <p:spPr>
          <a:xfrm>
            <a:off x="640080" y="2377440"/>
            <a:ext cx="2926080" cy="274320"/>
          </a:xfrm>
          <a:prstGeom prst="rect">
            <a:avLst/>
          </a:prstGeom>
          <a:noFill/>
          <a:ln/>
        </p:spPr>
        <p:txBody>
          <a:bodyPr wrap="square" lIns="0" tIns="0" rIns="0" bIns="0" rtlCol="0" anchor="ctr"/>
          <a:lstStyle/>
          <a:p>
            <a:pPr marL="0" indent="0">
              <a:buNone/>
            </a:pPr>
            <a:endParaRPr lang="en-US" sz="1300" dirty="0"/>
          </a:p>
        </p:txBody>
      </p:sp>
      <p:sp>
        <p:nvSpPr>
          <p:cNvPr id="6" name="Text 4"/>
          <p:cNvSpPr txBox="1"/>
          <p:nvPr/>
        </p:nvSpPr>
        <p:spPr>
          <a:xfrm>
            <a:off x="640080" y="2743200"/>
            <a:ext cx="3108960" cy="1828800"/>
          </a:xfrm>
          <a:prstGeom prst="rect">
            <a:avLst/>
          </a:prstGeom>
          <a:noFill/>
          <a:ln/>
        </p:spPr>
        <p:txBody>
          <a:bodyPr wrap="square" lIns="0" tIns="0" rIns="0" bIns="0" rtlCol="0" anchor="ctr"/>
          <a:lstStyle/>
          <a:p>
            <a:pPr marL="0" indent="0">
              <a:lnSpc>
                <a:spcPts val="3400"/>
              </a:lnSpc>
              <a:buNone/>
            </a:pPr>
            <a:r>
              <a:rPr lang="en-US" sz="3000" b="1" dirty="0">
                <a:solidFill>
                  <a:srgbClr val="FFFFFF"/>
                </a:solidFill>
                <a:latin typeface="Cambria" pitchFamily="34" charset="0"/>
                <a:ea typeface="Cambria" pitchFamily="34" charset="-122"/>
                <a:cs typeface="Cambria" pitchFamily="34" charset="-120"/>
              </a:rPr>
              <a:t>Business</a:t>
            </a:r>
            <a:endParaRPr lang="en-US" sz="3000" dirty="0"/>
          </a:p>
          <a:p>
            <a:pPr marL="0" indent="0">
              <a:lnSpc>
                <a:spcPts val="3400"/>
              </a:lnSpc>
              <a:buNone/>
            </a:pPr>
            <a:r>
              <a:rPr lang="en-US" sz="3000" b="1" dirty="0">
                <a:solidFill>
                  <a:srgbClr val="FFFFFF"/>
                </a:solidFill>
                <a:latin typeface="Cambria" pitchFamily="34" charset="0"/>
                <a:ea typeface="Cambria" pitchFamily="34" charset="-122"/>
                <a:cs typeface="Cambria" pitchFamily="34" charset="-120"/>
              </a:rPr>
              <a:t>AI/ML</a:t>
            </a:r>
            <a:endParaRPr lang="en-US" sz="3000" dirty="0"/>
          </a:p>
          <a:p>
            <a:pPr marL="0" indent="0">
              <a:lnSpc>
                <a:spcPts val="3400"/>
              </a:lnSpc>
              <a:buNone/>
            </a:pPr>
            <a:r>
              <a:rPr lang="en-US" sz="3000" b="1" dirty="0">
                <a:solidFill>
                  <a:srgbClr val="FFFFFF"/>
                </a:solidFill>
                <a:latin typeface="Cambria" pitchFamily="34" charset="0"/>
                <a:ea typeface="Cambria" pitchFamily="34" charset="-122"/>
                <a:cs typeface="Cambria" pitchFamily="34" charset="-120"/>
              </a:rPr>
              <a:t>Case Study</a:t>
            </a:r>
            <a:endParaRPr lang="en-US" sz="3000" dirty="0"/>
          </a:p>
        </p:txBody>
      </p:sp>
      <p:sp>
        <p:nvSpPr>
          <p:cNvPr id="7" name="Text 5"/>
          <p:cNvSpPr txBox="1"/>
          <p:nvPr/>
        </p:nvSpPr>
        <p:spPr>
          <a:xfrm>
            <a:off x="4846320" y="1737360"/>
            <a:ext cx="6675120" cy="1554480"/>
          </a:xfrm>
          <a:prstGeom prst="rect">
            <a:avLst/>
          </a:prstGeom>
          <a:noFill/>
          <a:ln/>
        </p:spPr>
        <p:txBody>
          <a:bodyPr wrap="square" lIns="0" tIns="0" rIns="0" bIns="0" rtlCol="0" anchor="ctr"/>
          <a:lstStyle/>
          <a:p>
            <a:pPr marL="0" indent="0">
              <a:lnSpc>
                <a:spcPts val="4200"/>
              </a:lnSpc>
              <a:buNone/>
            </a:pPr>
            <a:r>
              <a:rPr lang="en-US" sz="3400" b="1" dirty="0">
                <a:solidFill>
                  <a:srgbClr val="FFFFFF"/>
                </a:solidFill>
                <a:latin typeface="Cambria" pitchFamily="34" charset="0"/>
                <a:ea typeface="Cambria" pitchFamily="34" charset="-122"/>
                <a:cs typeface="Cambria" pitchFamily="34" charset="-120"/>
              </a:rPr>
              <a:t>Artificial Intelligence for</a:t>
            </a:r>
            <a:endParaRPr lang="en-US" sz="3400" dirty="0"/>
          </a:p>
          <a:p>
            <a:pPr marL="0" indent="0">
              <a:lnSpc>
                <a:spcPts val="4200"/>
              </a:lnSpc>
              <a:buNone/>
            </a:pPr>
            <a:r>
              <a:rPr lang="en-US" sz="3400" b="1" dirty="0">
                <a:solidFill>
                  <a:srgbClr val="FFFFFF"/>
                </a:solidFill>
                <a:latin typeface="Cambria" pitchFamily="34" charset="0"/>
                <a:ea typeface="Cambria" pitchFamily="34" charset="-122"/>
                <a:cs typeface="Cambria" pitchFamily="34" charset="-120"/>
              </a:rPr>
              <a:t>Fraud Detection at HDFC Bank</a:t>
            </a:r>
            <a:endParaRPr lang="en-US" sz="3400" dirty="0"/>
          </a:p>
        </p:txBody>
      </p:sp>
      <p:sp>
        <p:nvSpPr>
          <p:cNvPr id="8" name="Text 6"/>
          <p:cNvSpPr txBox="1"/>
          <p:nvPr/>
        </p:nvSpPr>
        <p:spPr>
          <a:xfrm>
            <a:off x="4846320" y="3383280"/>
            <a:ext cx="6675120" cy="457200"/>
          </a:xfrm>
          <a:prstGeom prst="rect">
            <a:avLst/>
          </a:prstGeom>
          <a:noFill/>
          <a:ln/>
        </p:spPr>
        <p:txBody>
          <a:bodyPr wrap="square" lIns="0" tIns="0" rIns="0" bIns="0" rtlCol="0" anchor="ctr"/>
          <a:lstStyle/>
          <a:p>
            <a:pPr marL="0" indent="0">
              <a:buNone/>
            </a:pPr>
            <a:r>
              <a:rPr lang="en-US" sz="1500" i="1" dirty="0">
                <a:solidFill>
                  <a:srgbClr val="AFC6DE"/>
                </a:solidFill>
                <a:latin typeface="Calibri" pitchFamily="34" charset="0"/>
                <a:ea typeface="Calibri" pitchFamily="34" charset="-122"/>
                <a:cs typeface="Calibri" pitchFamily="34" charset="-120"/>
              </a:rPr>
              <a:t>Protecting 100+ million customers in India's digital banking economy</a:t>
            </a:r>
            <a:endParaRPr lang="en-US" sz="1500" dirty="0"/>
          </a:p>
        </p:txBody>
      </p:sp>
      <p:sp>
        <p:nvSpPr>
          <p:cNvPr id="9" name="Shape 7"/>
          <p:cNvSpPr/>
          <p:nvPr/>
        </p:nvSpPr>
        <p:spPr>
          <a:xfrm>
            <a:off x="4846320" y="4069080"/>
            <a:ext cx="822960" cy="41148"/>
          </a:xfrm>
          <a:prstGeom prst="rect">
            <a:avLst/>
          </a:prstGeom>
          <a:solidFill>
            <a:srgbClr val="ED232A"/>
          </a:solidFill>
          <a:ln/>
        </p:spPr>
      </p:sp>
      <p:sp>
        <p:nvSpPr>
          <p:cNvPr id="10" name="Text 8"/>
          <p:cNvSpPr txBox="1"/>
          <p:nvPr/>
        </p:nvSpPr>
        <p:spPr>
          <a:xfrm>
            <a:off x="4846320" y="4480560"/>
            <a:ext cx="6675120" cy="1463040"/>
          </a:xfrm>
          <a:prstGeom prst="rect">
            <a:avLst/>
          </a:prstGeom>
          <a:noFill/>
          <a:ln/>
        </p:spPr>
        <p:txBody>
          <a:bodyPr wrap="square" lIns="0" tIns="0" rIns="0" bIns="0" rtlCol="0" anchor="ctr"/>
          <a:lstStyle/>
          <a:p>
            <a:pPr marL="0" indent="0">
              <a:lnSpc>
                <a:spcPts val="2000"/>
              </a:lnSpc>
              <a:buNone/>
            </a:pPr>
            <a:r>
              <a:rPr lang="en-US" sz="1300" dirty="0">
                <a:solidFill>
                  <a:srgbClr val="D5E1EE"/>
                </a:solidFill>
                <a:latin typeface="Calibri" pitchFamily="34" charset="0"/>
                <a:ea typeface="Calibri" pitchFamily="34" charset="-122"/>
                <a:cs typeface="Calibri" pitchFamily="34" charset="-120"/>
              </a:rPr>
              <a:t>Course:  Introduction to Artificial Intelligence &amp; Machine Learning</a:t>
            </a:r>
            <a:endParaRPr lang="en-US" sz="1300" dirty="0"/>
          </a:p>
          <a:p>
            <a:pPr marL="0" indent="0">
              <a:lnSpc>
                <a:spcPts val="2000"/>
              </a:lnSpc>
              <a:buNone/>
            </a:pPr>
            <a:r>
              <a:rPr lang="en-US" sz="1300" dirty="0">
                <a:solidFill>
                  <a:srgbClr val="D5E1EE"/>
                </a:solidFill>
                <a:latin typeface="Calibri" pitchFamily="34" charset="0"/>
                <a:ea typeface="Calibri" pitchFamily="34" charset="-122"/>
                <a:cs typeface="Calibri" pitchFamily="34" charset="-120"/>
              </a:rPr>
              <a:t>Section:  BBA Fintech &amp;AI (i1)</a:t>
            </a:r>
            <a:endParaRPr lang="en-US" sz="1300" dirty="0"/>
          </a:p>
          <a:p>
            <a:pPr marL="0" indent="0">
              <a:lnSpc>
                <a:spcPts val="2000"/>
              </a:lnSpc>
              <a:buNone/>
            </a:pPr>
            <a:r>
              <a:rPr lang="en-US" sz="1300" dirty="0">
                <a:solidFill>
                  <a:srgbClr val="D5E1EE"/>
                </a:solidFill>
                <a:latin typeface="Calibri" pitchFamily="34" charset="0"/>
                <a:ea typeface="Calibri" pitchFamily="34" charset="-122"/>
                <a:cs typeface="Calibri" pitchFamily="34" charset="-120"/>
              </a:rPr>
              <a:t>Chitkara University, Rajpura, Punjab</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9509760" cy="548640"/>
          </a:xfrm>
          <a:prstGeom prst="rect">
            <a:avLst/>
          </a:prstGeom>
          <a:noFill/>
          <a:ln/>
        </p:spPr>
        <p:txBody>
          <a:bodyPr wrap="square" lIns="0" tIns="0" rIns="0" bIns="0" rtlCol="0" anchor="ctr"/>
          <a:lstStyle/>
          <a:p>
            <a:pPr marL="0" indent="0">
              <a:buNone/>
            </a:pPr>
            <a:r>
              <a:rPr lang="en-US" sz="3200" b="1" dirty="0">
                <a:solidFill>
                  <a:srgbClr val="0A2540"/>
                </a:solidFill>
                <a:latin typeface="Cambria" pitchFamily="34" charset="0"/>
                <a:ea typeface="Cambria" pitchFamily="34" charset="-122"/>
                <a:cs typeface="Cambria" pitchFamily="34" charset="-120"/>
              </a:rPr>
              <a:t>Company Overview: HDFC Bank</a:t>
            </a:r>
            <a:endParaRPr lang="en-US" sz="3200" dirty="0"/>
          </a:p>
        </p:txBody>
      </p:sp>
      <p:sp>
        <p:nvSpPr>
          <p:cNvPr id="3" name="Text 1"/>
          <p:cNvSpPr txBox="1"/>
          <p:nvPr/>
        </p:nvSpPr>
        <p:spPr>
          <a:xfrm>
            <a:off x="548640" y="950976"/>
            <a:ext cx="9509760" cy="292608"/>
          </a:xfrm>
          <a:prstGeom prst="rect">
            <a:avLst/>
          </a:prstGeom>
          <a:noFill/>
          <a:ln/>
        </p:spPr>
        <p:txBody>
          <a:bodyPr wrap="square" lIns="0" tIns="0" rIns="0" bIns="0" rtlCol="0" anchor="ctr"/>
          <a:lstStyle/>
          <a:p>
            <a:pPr marL="0" indent="0">
              <a:buNone/>
            </a:pPr>
            <a:r>
              <a:rPr lang="en-US" sz="1300" i="1" dirty="0">
                <a:solidFill>
                  <a:srgbClr val="5A6B7C"/>
                </a:solidFill>
                <a:latin typeface="Calibri" pitchFamily="34" charset="0"/>
                <a:ea typeface="Calibri" pitchFamily="34" charset="-122"/>
                <a:cs typeface="Calibri" pitchFamily="34" charset="-120"/>
              </a:rPr>
              <a:t>India's largest private sector bank by assets</a:t>
            </a:r>
            <a:endParaRPr lang="en-US" sz="1300" dirty="0"/>
          </a:p>
        </p:txBody>
      </p:sp>
      <p:sp>
        <p:nvSpPr>
          <p:cNvPr id="4" name="Shape 2"/>
          <p:cNvSpPr/>
          <p:nvPr/>
        </p:nvSpPr>
        <p:spPr>
          <a:xfrm>
            <a:off x="11109960" y="384048"/>
            <a:ext cx="566928" cy="566928"/>
          </a:xfrm>
          <a:prstGeom prst="ellipse">
            <a:avLst/>
          </a:prstGeom>
          <a:solidFill>
            <a:srgbClr val="F1F5F9"/>
          </a:solidFill>
          <a:ln/>
        </p:spPr>
      </p:sp>
      <p:sp>
        <p:nvSpPr>
          <p:cNvPr id="5" name="Text 3"/>
          <p:cNvSpPr txBox="1"/>
          <p:nvPr/>
        </p:nvSpPr>
        <p:spPr>
          <a:xfrm>
            <a:off x="11109960" y="384048"/>
            <a:ext cx="566928" cy="566928"/>
          </a:xfrm>
          <a:prstGeom prst="rect">
            <a:avLst/>
          </a:prstGeom>
          <a:noFill/>
          <a:ln/>
        </p:spPr>
        <p:txBody>
          <a:bodyPr wrap="square" lIns="0" tIns="0" rIns="0" bIns="0" rtlCol="0" anchor="ctr"/>
          <a:lstStyle/>
          <a:p>
            <a:pPr marL="0" indent="0" algn="ctr">
              <a:buNone/>
            </a:pPr>
            <a:r>
              <a:rPr lang="en-US" sz="1600" b="1" dirty="0">
                <a:solidFill>
                  <a:srgbClr val="004C8F"/>
                </a:solidFill>
                <a:latin typeface="Cambria" pitchFamily="34" charset="0"/>
                <a:ea typeface="Cambria" pitchFamily="34" charset="-122"/>
                <a:cs typeface="Cambria" pitchFamily="34" charset="-120"/>
              </a:rPr>
              <a:t>2</a:t>
            </a:r>
            <a:endParaRPr lang="en-US" sz="1600" dirty="0"/>
          </a:p>
        </p:txBody>
      </p:sp>
      <p:sp>
        <p:nvSpPr>
          <p:cNvPr id="6" name="Shape 4"/>
          <p:cNvSpPr/>
          <p:nvPr/>
        </p:nvSpPr>
        <p:spPr>
          <a:xfrm>
            <a:off x="548640" y="1508760"/>
            <a:ext cx="2606040" cy="1371600"/>
          </a:xfrm>
          <a:prstGeom prst="roundRect">
            <a:avLst>
              <a:gd name="adj" fmla="val 5333"/>
            </a:avLst>
          </a:prstGeom>
          <a:solidFill>
            <a:srgbClr val="F1F5F9"/>
          </a:solidFill>
          <a:ln w="12700">
            <a:solidFill>
              <a:srgbClr val="F1F5F9"/>
            </a:solidFill>
            <a:prstDash val="solid"/>
          </a:ln>
        </p:spPr>
      </p:sp>
      <p:sp>
        <p:nvSpPr>
          <p:cNvPr id="7" name="Text 5"/>
          <p:cNvSpPr txBox="1"/>
          <p:nvPr/>
        </p:nvSpPr>
        <p:spPr>
          <a:xfrm>
            <a:off x="731520" y="1664208"/>
            <a:ext cx="2240280" cy="548640"/>
          </a:xfrm>
          <a:prstGeom prst="rect">
            <a:avLst/>
          </a:prstGeom>
          <a:noFill/>
          <a:ln/>
        </p:spPr>
        <p:txBody>
          <a:bodyPr wrap="square" lIns="0" tIns="0" rIns="0" bIns="0" rtlCol="0" anchor="ctr"/>
          <a:lstStyle/>
          <a:p>
            <a:pPr marL="0" indent="0">
              <a:buNone/>
            </a:pPr>
            <a:r>
              <a:rPr lang="en-US" sz="2600" b="1" dirty="0">
                <a:solidFill>
                  <a:srgbClr val="004C8F"/>
                </a:solidFill>
                <a:latin typeface="Cambria" pitchFamily="34" charset="0"/>
                <a:ea typeface="Cambria" pitchFamily="34" charset="-122"/>
                <a:cs typeface="Cambria" pitchFamily="34" charset="-120"/>
              </a:rPr>
              <a:t>100.6 mn</a:t>
            </a:r>
            <a:endParaRPr lang="en-US" sz="2600" dirty="0"/>
          </a:p>
        </p:txBody>
      </p:sp>
      <p:sp>
        <p:nvSpPr>
          <p:cNvPr id="8" name="Text 6"/>
          <p:cNvSpPr txBox="1"/>
          <p:nvPr/>
        </p:nvSpPr>
        <p:spPr>
          <a:xfrm>
            <a:off x="731520" y="2249424"/>
            <a:ext cx="2240280" cy="502920"/>
          </a:xfrm>
          <a:prstGeom prst="rect">
            <a:avLst/>
          </a:prstGeom>
          <a:noFill/>
          <a:ln/>
        </p:spPr>
        <p:txBody>
          <a:bodyPr wrap="square" lIns="0" tIns="0" rIns="0" bIns="0" rtlCol="0" anchor="ctr"/>
          <a:lstStyle/>
          <a:p>
            <a:pPr marL="0" indent="0">
              <a:buNone/>
            </a:pPr>
            <a:r>
              <a:rPr lang="en-US" sz="1200" dirty="0">
                <a:solidFill>
                  <a:srgbClr val="5A6B7C"/>
                </a:solidFill>
                <a:latin typeface="Calibri" pitchFamily="34" charset="0"/>
                <a:ea typeface="Calibri" pitchFamily="34" charset="-122"/>
                <a:cs typeface="Calibri" pitchFamily="34" charset="-120"/>
              </a:rPr>
              <a:t>Customers served</a:t>
            </a:r>
            <a:endParaRPr lang="en-US" sz="1200" dirty="0"/>
          </a:p>
        </p:txBody>
      </p:sp>
      <p:sp>
        <p:nvSpPr>
          <p:cNvPr id="9" name="Shape 7"/>
          <p:cNvSpPr/>
          <p:nvPr/>
        </p:nvSpPr>
        <p:spPr>
          <a:xfrm>
            <a:off x="3364992" y="1508760"/>
            <a:ext cx="2606040" cy="1371600"/>
          </a:xfrm>
          <a:prstGeom prst="roundRect">
            <a:avLst>
              <a:gd name="adj" fmla="val 5333"/>
            </a:avLst>
          </a:prstGeom>
          <a:solidFill>
            <a:srgbClr val="F1F5F9"/>
          </a:solidFill>
          <a:ln w="12700">
            <a:solidFill>
              <a:srgbClr val="F1F5F9"/>
            </a:solidFill>
            <a:prstDash val="solid"/>
          </a:ln>
        </p:spPr>
      </p:sp>
      <p:sp>
        <p:nvSpPr>
          <p:cNvPr id="10" name="Text 8"/>
          <p:cNvSpPr txBox="1"/>
          <p:nvPr/>
        </p:nvSpPr>
        <p:spPr>
          <a:xfrm>
            <a:off x="3547872" y="1664208"/>
            <a:ext cx="2240280" cy="548640"/>
          </a:xfrm>
          <a:prstGeom prst="rect">
            <a:avLst/>
          </a:prstGeom>
          <a:noFill/>
          <a:ln/>
        </p:spPr>
        <p:txBody>
          <a:bodyPr wrap="square" lIns="0" tIns="0" rIns="0" bIns="0" rtlCol="0" anchor="ctr"/>
          <a:lstStyle/>
          <a:p>
            <a:pPr marL="0" indent="0">
              <a:buNone/>
            </a:pPr>
            <a:r>
              <a:rPr lang="en-US" sz="2600" b="1" dirty="0">
                <a:solidFill>
                  <a:srgbClr val="004C8F"/>
                </a:solidFill>
                <a:latin typeface="Cambria" pitchFamily="34" charset="0"/>
                <a:ea typeface="Cambria" pitchFamily="34" charset="-122"/>
                <a:cs typeface="Cambria" pitchFamily="34" charset="-120"/>
              </a:rPr>
              <a:t>9,689</a:t>
            </a:r>
            <a:endParaRPr lang="en-US" sz="2600" dirty="0"/>
          </a:p>
        </p:txBody>
      </p:sp>
      <p:sp>
        <p:nvSpPr>
          <p:cNvPr id="11" name="Text 9"/>
          <p:cNvSpPr txBox="1"/>
          <p:nvPr/>
        </p:nvSpPr>
        <p:spPr>
          <a:xfrm>
            <a:off x="3547872" y="2249424"/>
            <a:ext cx="2240280" cy="502920"/>
          </a:xfrm>
          <a:prstGeom prst="rect">
            <a:avLst/>
          </a:prstGeom>
          <a:noFill/>
          <a:ln/>
        </p:spPr>
        <p:txBody>
          <a:bodyPr wrap="square" lIns="0" tIns="0" rIns="0" bIns="0" rtlCol="0" anchor="ctr"/>
          <a:lstStyle/>
          <a:p>
            <a:pPr marL="0" indent="0">
              <a:buNone/>
            </a:pPr>
            <a:r>
              <a:rPr lang="en-US" sz="1200" dirty="0">
                <a:solidFill>
                  <a:srgbClr val="5A6B7C"/>
                </a:solidFill>
                <a:latin typeface="Calibri" pitchFamily="34" charset="0"/>
                <a:ea typeface="Calibri" pitchFamily="34" charset="-122"/>
                <a:cs typeface="Calibri" pitchFamily="34" charset="-120"/>
              </a:rPr>
              <a:t>Branches across 4,175 cities</a:t>
            </a:r>
            <a:endParaRPr lang="en-US" sz="1200" dirty="0"/>
          </a:p>
        </p:txBody>
      </p:sp>
      <p:sp>
        <p:nvSpPr>
          <p:cNvPr id="12" name="Shape 10"/>
          <p:cNvSpPr/>
          <p:nvPr/>
        </p:nvSpPr>
        <p:spPr>
          <a:xfrm>
            <a:off x="6181344" y="1508760"/>
            <a:ext cx="2606040" cy="1371600"/>
          </a:xfrm>
          <a:prstGeom prst="roundRect">
            <a:avLst>
              <a:gd name="adj" fmla="val 5333"/>
            </a:avLst>
          </a:prstGeom>
          <a:solidFill>
            <a:srgbClr val="F1F5F9"/>
          </a:solidFill>
          <a:ln w="12700">
            <a:solidFill>
              <a:srgbClr val="F1F5F9"/>
            </a:solidFill>
            <a:prstDash val="solid"/>
          </a:ln>
        </p:spPr>
      </p:sp>
      <p:sp>
        <p:nvSpPr>
          <p:cNvPr id="13" name="Text 11"/>
          <p:cNvSpPr txBox="1"/>
          <p:nvPr/>
        </p:nvSpPr>
        <p:spPr>
          <a:xfrm>
            <a:off x="6364224" y="1664208"/>
            <a:ext cx="2240280" cy="548640"/>
          </a:xfrm>
          <a:prstGeom prst="rect">
            <a:avLst/>
          </a:prstGeom>
          <a:noFill/>
          <a:ln/>
        </p:spPr>
        <p:txBody>
          <a:bodyPr wrap="square" lIns="0" tIns="0" rIns="0" bIns="0" rtlCol="0" anchor="ctr"/>
          <a:lstStyle/>
          <a:p>
            <a:pPr marL="0" indent="0">
              <a:buNone/>
            </a:pPr>
            <a:r>
              <a:rPr lang="en-US" sz="2600" b="1" dirty="0">
                <a:solidFill>
                  <a:srgbClr val="004C8F"/>
                </a:solidFill>
                <a:latin typeface="Cambria" pitchFamily="34" charset="0"/>
                <a:ea typeface="Cambria" pitchFamily="34" charset="-122"/>
                <a:cs typeface="Cambria" pitchFamily="34" charset="-120"/>
              </a:rPr>
              <a:t>₹31.0 tn</a:t>
            </a:r>
            <a:endParaRPr lang="en-US" sz="2600" dirty="0"/>
          </a:p>
        </p:txBody>
      </p:sp>
      <p:sp>
        <p:nvSpPr>
          <p:cNvPr id="14" name="Text 12"/>
          <p:cNvSpPr txBox="1"/>
          <p:nvPr/>
        </p:nvSpPr>
        <p:spPr>
          <a:xfrm>
            <a:off x="6364224" y="2249424"/>
            <a:ext cx="2240280" cy="502920"/>
          </a:xfrm>
          <a:prstGeom prst="rect">
            <a:avLst/>
          </a:prstGeom>
          <a:noFill/>
          <a:ln/>
        </p:spPr>
        <p:txBody>
          <a:bodyPr wrap="square" lIns="0" tIns="0" rIns="0" bIns="0" rtlCol="0" anchor="ctr"/>
          <a:lstStyle/>
          <a:p>
            <a:pPr marL="0" indent="0">
              <a:buNone/>
            </a:pPr>
            <a:r>
              <a:rPr lang="en-US" sz="1200" dirty="0">
                <a:solidFill>
                  <a:srgbClr val="5A6B7C"/>
                </a:solidFill>
                <a:latin typeface="Calibri" pitchFamily="34" charset="0"/>
                <a:ea typeface="Calibri" pitchFamily="34" charset="-122"/>
                <a:cs typeface="Calibri" pitchFamily="34" charset="-120"/>
              </a:rPr>
              <a:t>Total deposits (Mar 2026)</a:t>
            </a:r>
            <a:endParaRPr lang="en-US" sz="1200" dirty="0"/>
          </a:p>
        </p:txBody>
      </p:sp>
      <p:sp>
        <p:nvSpPr>
          <p:cNvPr id="15" name="Shape 13"/>
          <p:cNvSpPr/>
          <p:nvPr/>
        </p:nvSpPr>
        <p:spPr>
          <a:xfrm>
            <a:off x="8997696" y="1508760"/>
            <a:ext cx="2606040" cy="1371600"/>
          </a:xfrm>
          <a:prstGeom prst="roundRect">
            <a:avLst>
              <a:gd name="adj" fmla="val 5333"/>
            </a:avLst>
          </a:prstGeom>
          <a:solidFill>
            <a:srgbClr val="F1F5F9"/>
          </a:solidFill>
          <a:ln w="12700">
            <a:solidFill>
              <a:srgbClr val="F1F5F9"/>
            </a:solidFill>
            <a:prstDash val="solid"/>
          </a:ln>
        </p:spPr>
      </p:sp>
      <p:sp>
        <p:nvSpPr>
          <p:cNvPr id="16" name="Text 14"/>
          <p:cNvSpPr txBox="1"/>
          <p:nvPr/>
        </p:nvSpPr>
        <p:spPr>
          <a:xfrm>
            <a:off x="9180576" y="1664208"/>
            <a:ext cx="2240280" cy="548640"/>
          </a:xfrm>
          <a:prstGeom prst="rect">
            <a:avLst/>
          </a:prstGeom>
          <a:noFill/>
          <a:ln/>
        </p:spPr>
        <p:txBody>
          <a:bodyPr wrap="square" lIns="0" tIns="0" rIns="0" bIns="0" rtlCol="0" anchor="ctr"/>
          <a:lstStyle/>
          <a:p>
            <a:pPr marL="0" indent="0">
              <a:buNone/>
            </a:pPr>
            <a:r>
              <a:rPr lang="en-US" sz="2600" b="1" dirty="0">
                <a:solidFill>
                  <a:srgbClr val="004C8F"/>
                </a:solidFill>
                <a:latin typeface="Cambria" pitchFamily="34" charset="0"/>
                <a:ea typeface="Cambria" pitchFamily="34" charset="-122"/>
                <a:cs typeface="Cambria" pitchFamily="34" charset="-120"/>
              </a:rPr>
              <a:t>₹52.6 tn</a:t>
            </a:r>
            <a:endParaRPr lang="en-US" sz="2600" dirty="0"/>
          </a:p>
        </p:txBody>
      </p:sp>
      <p:sp>
        <p:nvSpPr>
          <p:cNvPr id="17" name="Text 15"/>
          <p:cNvSpPr txBox="1"/>
          <p:nvPr/>
        </p:nvSpPr>
        <p:spPr>
          <a:xfrm>
            <a:off x="9180576" y="2249424"/>
            <a:ext cx="2240280" cy="502920"/>
          </a:xfrm>
          <a:prstGeom prst="rect">
            <a:avLst/>
          </a:prstGeom>
          <a:noFill/>
          <a:ln/>
        </p:spPr>
        <p:txBody>
          <a:bodyPr wrap="square" lIns="0" tIns="0" rIns="0" bIns="0" rtlCol="0" anchor="ctr"/>
          <a:lstStyle/>
          <a:p>
            <a:pPr marL="0" indent="0">
              <a:buNone/>
            </a:pPr>
            <a:r>
              <a:rPr lang="en-US" sz="1200" dirty="0">
                <a:solidFill>
                  <a:srgbClr val="5A6B7C"/>
                </a:solidFill>
                <a:latin typeface="Calibri" pitchFamily="34" charset="0"/>
                <a:ea typeface="Calibri" pitchFamily="34" charset="-122"/>
                <a:cs typeface="Calibri" pitchFamily="34" charset="-120"/>
              </a:rPr>
              <a:t>Total assets (Mar 2026)</a:t>
            </a:r>
            <a:endParaRPr lang="en-US" sz="1200" dirty="0"/>
          </a:p>
        </p:txBody>
      </p:sp>
      <p:sp>
        <p:nvSpPr>
          <p:cNvPr id="18" name="Shape 16"/>
          <p:cNvSpPr/>
          <p:nvPr/>
        </p:nvSpPr>
        <p:spPr>
          <a:xfrm>
            <a:off x="548640" y="3182112"/>
            <a:ext cx="310896" cy="310896"/>
          </a:xfrm>
          <a:prstGeom prst="ellipse">
            <a:avLst/>
          </a:prstGeom>
          <a:solidFill>
            <a:srgbClr val="004C8F"/>
          </a:solidFill>
          <a:ln/>
        </p:spPr>
      </p:sp>
      <p:sp>
        <p:nvSpPr>
          <p:cNvPr id="19" name="Text 17"/>
          <p:cNvSpPr txBox="1"/>
          <p:nvPr/>
        </p:nvSpPr>
        <p:spPr>
          <a:xfrm>
            <a:off x="1024128" y="3127248"/>
            <a:ext cx="2743200" cy="411480"/>
          </a:xfrm>
          <a:prstGeom prst="rect">
            <a:avLst/>
          </a:prstGeom>
          <a:noFill/>
          <a:ln/>
        </p:spPr>
        <p:txBody>
          <a:bodyPr wrap="square" lIns="0" tIns="0" rIns="0" bIns="0"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What the bank does</a:t>
            </a:r>
            <a:endParaRPr lang="en-US" sz="1400" dirty="0"/>
          </a:p>
        </p:txBody>
      </p:sp>
      <p:sp>
        <p:nvSpPr>
          <p:cNvPr id="20" name="Text 18"/>
          <p:cNvSpPr txBox="1"/>
          <p:nvPr/>
        </p:nvSpPr>
        <p:spPr>
          <a:xfrm>
            <a:off x="3931920" y="3127248"/>
            <a:ext cx="7680960" cy="960120"/>
          </a:xfrm>
          <a:prstGeom prst="rect">
            <a:avLst/>
          </a:prstGeom>
          <a:noFill/>
          <a:ln/>
        </p:spPr>
        <p:txBody>
          <a:bodyPr wrap="square" lIns="0" tIns="0" rIns="0" bIns="0" rtlCol="0" anchor="t"/>
          <a:lstStyle/>
          <a:p>
            <a:pPr marL="0" indent="0">
              <a:lnSpc>
                <a:spcPts val="1700"/>
              </a:lnSpc>
              <a:buNone/>
            </a:pPr>
            <a:r>
              <a:rPr lang="en-US" sz="1250" dirty="0">
                <a:solidFill>
                  <a:srgbClr val="3D4C5A"/>
                </a:solidFill>
                <a:latin typeface="Calibri" pitchFamily="34" charset="0"/>
                <a:ea typeface="Calibri" pitchFamily="34" charset="-122"/>
                <a:cs typeface="Calibri" pitchFamily="34" charset="-120"/>
              </a:rPr>
              <a:t>Operates across retail banking, wholesale banking and treasury. Following the 2023 merger with HDFC Ltd, it also offers housing finance, life and general insurance, asset management and broking through group companies.</a:t>
            </a:r>
            <a:endParaRPr lang="en-US" sz="1250" dirty="0"/>
          </a:p>
        </p:txBody>
      </p:sp>
      <p:sp>
        <p:nvSpPr>
          <p:cNvPr id="21" name="Shape 19"/>
          <p:cNvSpPr/>
          <p:nvPr/>
        </p:nvSpPr>
        <p:spPr>
          <a:xfrm>
            <a:off x="548640" y="4297680"/>
            <a:ext cx="310896" cy="310896"/>
          </a:xfrm>
          <a:prstGeom prst="ellipse">
            <a:avLst/>
          </a:prstGeom>
          <a:solidFill>
            <a:srgbClr val="004C8F"/>
          </a:solidFill>
          <a:ln/>
        </p:spPr>
      </p:sp>
      <p:sp>
        <p:nvSpPr>
          <p:cNvPr id="22" name="Text 20"/>
          <p:cNvSpPr txBox="1"/>
          <p:nvPr/>
        </p:nvSpPr>
        <p:spPr>
          <a:xfrm>
            <a:off x="1024128" y="4242816"/>
            <a:ext cx="2743200" cy="411480"/>
          </a:xfrm>
          <a:prstGeom prst="rect">
            <a:avLst/>
          </a:prstGeom>
          <a:noFill/>
          <a:ln/>
        </p:spPr>
        <p:txBody>
          <a:bodyPr wrap="square" lIns="0" tIns="0" rIns="0" bIns="0"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Who its customers are</a:t>
            </a:r>
            <a:endParaRPr lang="en-US" sz="1400" dirty="0"/>
          </a:p>
        </p:txBody>
      </p:sp>
      <p:sp>
        <p:nvSpPr>
          <p:cNvPr id="23" name="Text 21"/>
          <p:cNvSpPr txBox="1"/>
          <p:nvPr/>
        </p:nvSpPr>
        <p:spPr>
          <a:xfrm>
            <a:off x="3931920" y="4242816"/>
            <a:ext cx="7680960" cy="960120"/>
          </a:xfrm>
          <a:prstGeom prst="rect">
            <a:avLst/>
          </a:prstGeom>
          <a:noFill/>
          <a:ln/>
        </p:spPr>
        <p:txBody>
          <a:bodyPr wrap="square" lIns="0" tIns="0" rIns="0" bIns="0" rtlCol="0" anchor="t"/>
          <a:lstStyle/>
          <a:p>
            <a:pPr marL="0" indent="0">
              <a:lnSpc>
                <a:spcPts val="1700"/>
              </a:lnSpc>
              <a:buNone/>
            </a:pPr>
            <a:r>
              <a:rPr lang="en-US" sz="1250" dirty="0">
                <a:solidFill>
                  <a:srgbClr val="3D4C5A"/>
                </a:solidFill>
                <a:latin typeface="Calibri" pitchFamily="34" charset="0"/>
                <a:ea typeface="Calibri" pitchFamily="34" charset="-122"/>
                <a:cs typeface="Calibri" pitchFamily="34" charset="-120"/>
              </a:rPr>
              <a:t>Salaried and self-employed retail individuals, semi-urban and rural households (50.2% of branches), SMEs, and large corporate and institutional clients.</a:t>
            </a:r>
            <a:endParaRPr lang="en-US" sz="1250" dirty="0"/>
          </a:p>
        </p:txBody>
      </p:sp>
      <p:sp>
        <p:nvSpPr>
          <p:cNvPr id="24" name="Shape 22"/>
          <p:cNvSpPr/>
          <p:nvPr/>
        </p:nvSpPr>
        <p:spPr>
          <a:xfrm>
            <a:off x="548640" y="5413248"/>
            <a:ext cx="310896" cy="310896"/>
          </a:xfrm>
          <a:prstGeom prst="ellipse">
            <a:avLst/>
          </a:prstGeom>
          <a:solidFill>
            <a:srgbClr val="004C8F"/>
          </a:solidFill>
          <a:ln/>
        </p:spPr>
      </p:sp>
      <p:sp>
        <p:nvSpPr>
          <p:cNvPr id="25" name="Text 23"/>
          <p:cNvSpPr txBox="1"/>
          <p:nvPr/>
        </p:nvSpPr>
        <p:spPr>
          <a:xfrm>
            <a:off x="1024128" y="5358384"/>
            <a:ext cx="2743200" cy="411480"/>
          </a:xfrm>
          <a:prstGeom prst="rect">
            <a:avLst/>
          </a:prstGeom>
          <a:noFill/>
          <a:ln/>
        </p:spPr>
        <p:txBody>
          <a:bodyPr wrap="square" lIns="0" tIns="0" rIns="0" bIns="0"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Products and services</a:t>
            </a:r>
            <a:endParaRPr lang="en-US" sz="1400" dirty="0"/>
          </a:p>
        </p:txBody>
      </p:sp>
      <p:sp>
        <p:nvSpPr>
          <p:cNvPr id="26" name="Text 24"/>
          <p:cNvSpPr txBox="1"/>
          <p:nvPr/>
        </p:nvSpPr>
        <p:spPr>
          <a:xfrm>
            <a:off x="3931920" y="5358384"/>
            <a:ext cx="7680960" cy="960120"/>
          </a:xfrm>
          <a:prstGeom prst="rect">
            <a:avLst/>
          </a:prstGeom>
          <a:noFill/>
          <a:ln/>
        </p:spPr>
        <p:txBody>
          <a:bodyPr wrap="square" lIns="0" tIns="0" rIns="0" bIns="0" rtlCol="0" anchor="t"/>
          <a:lstStyle/>
          <a:p>
            <a:pPr marL="0" indent="0">
              <a:lnSpc>
                <a:spcPts val="1700"/>
              </a:lnSpc>
              <a:buNone/>
            </a:pPr>
            <a:r>
              <a:rPr lang="en-US" sz="1250" dirty="0">
                <a:solidFill>
                  <a:srgbClr val="3D4C5A"/>
                </a:solidFill>
                <a:latin typeface="Calibri" pitchFamily="34" charset="0"/>
                <a:ea typeface="Calibri" pitchFamily="34" charset="-122"/>
                <a:cs typeface="Calibri" pitchFamily="34" charset="-120"/>
              </a:rPr>
              <a:t>Savings and deposit accounts, home and personal loans, credit and debit cards, UPI and net banking, cash management, trade finance, mutual funds and insurance distribution.</a:t>
            </a:r>
            <a:endParaRPr lang="en-US" sz="1250" dirty="0"/>
          </a:p>
        </p:txBody>
      </p:sp>
      <p:sp>
        <p:nvSpPr>
          <p:cNvPr id="27" name="Text 25"/>
          <p:cNvSpPr txBox="1"/>
          <p:nvPr/>
        </p:nvSpPr>
        <p:spPr>
          <a:xfrm>
            <a:off x="548640" y="6400800"/>
            <a:ext cx="11064240" cy="274320"/>
          </a:xfrm>
          <a:prstGeom prst="rect">
            <a:avLst/>
          </a:prstGeom>
          <a:noFill/>
          <a:ln/>
        </p:spPr>
        <p:txBody>
          <a:bodyPr wrap="square" lIns="0" tIns="0" rIns="0" bIns="0" rtlCol="0" anchor="ctr"/>
          <a:lstStyle/>
          <a:p>
            <a:pPr marL="0" indent="0">
              <a:buNone/>
            </a:pPr>
            <a:r>
              <a:rPr lang="en-US" sz="950" i="1" dirty="0">
                <a:solidFill>
                  <a:srgbClr val="5A6B7C"/>
                </a:solidFill>
                <a:latin typeface="Calibri" pitchFamily="34" charset="0"/>
                <a:ea typeface="Calibri" pitchFamily="34" charset="-122"/>
                <a:cs typeface="Calibri" pitchFamily="34" charset="-120"/>
              </a:rPr>
              <a:t>Source: HDFC Bank Form 20-F, FY2026 (SEC filing); HDFC Bank Q4 FY26 earnings presentation.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9509760" cy="548640"/>
          </a:xfrm>
          <a:prstGeom prst="rect">
            <a:avLst/>
          </a:prstGeom>
          <a:noFill/>
          <a:ln/>
        </p:spPr>
        <p:txBody>
          <a:bodyPr wrap="square" lIns="0" tIns="0" rIns="0" bIns="0" rtlCol="0" anchor="ctr"/>
          <a:lstStyle/>
          <a:p>
            <a:pPr marL="0" indent="0">
              <a:buNone/>
            </a:pPr>
            <a:r>
              <a:rPr lang="en-US" sz="3200" b="1" dirty="0">
                <a:solidFill>
                  <a:srgbClr val="0A2540"/>
                </a:solidFill>
                <a:latin typeface="Cambria" pitchFamily="34" charset="0"/>
                <a:ea typeface="Cambria" pitchFamily="34" charset="-122"/>
                <a:cs typeface="Cambria" pitchFamily="34" charset="-120"/>
              </a:rPr>
              <a:t>The Business Problem</a:t>
            </a:r>
            <a:endParaRPr lang="en-US" sz="3200" dirty="0"/>
          </a:p>
        </p:txBody>
      </p:sp>
      <p:sp>
        <p:nvSpPr>
          <p:cNvPr id="3" name="Text 1"/>
          <p:cNvSpPr txBox="1"/>
          <p:nvPr/>
        </p:nvSpPr>
        <p:spPr>
          <a:xfrm>
            <a:off x="548640" y="950976"/>
            <a:ext cx="9509760" cy="292608"/>
          </a:xfrm>
          <a:prstGeom prst="rect">
            <a:avLst/>
          </a:prstGeom>
          <a:noFill/>
          <a:ln/>
        </p:spPr>
        <p:txBody>
          <a:bodyPr wrap="square" lIns="0" tIns="0" rIns="0" bIns="0" rtlCol="0" anchor="ctr"/>
          <a:lstStyle/>
          <a:p>
            <a:pPr marL="0" indent="0">
              <a:buNone/>
            </a:pPr>
            <a:r>
              <a:rPr lang="en-US" sz="1300" i="1" dirty="0">
                <a:solidFill>
                  <a:srgbClr val="5A6B7C"/>
                </a:solidFill>
                <a:latin typeface="Calibri" pitchFamily="34" charset="0"/>
                <a:ea typeface="Calibri" pitchFamily="34" charset="-122"/>
                <a:cs typeface="Calibri" pitchFamily="34" charset="-120"/>
              </a:rPr>
              <a:t>Detecting fraudulent transactions in real time, at scale</a:t>
            </a:r>
            <a:endParaRPr lang="en-US" sz="1300" dirty="0"/>
          </a:p>
        </p:txBody>
      </p:sp>
      <p:sp>
        <p:nvSpPr>
          <p:cNvPr id="4" name="Shape 2"/>
          <p:cNvSpPr/>
          <p:nvPr/>
        </p:nvSpPr>
        <p:spPr>
          <a:xfrm>
            <a:off x="11109960" y="384048"/>
            <a:ext cx="566928" cy="566928"/>
          </a:xfrm>
          <a:prstGeom prst="ellipse">
            <a:avLst/>
          </a:prstGeom>
          <a:solidFill>
            <a:srgbClr val="F1F5F9"/>
          </a:solidFill>
          <a:ln/>
        </p:spPr>
      </p:sp>
      <p:sp>
        <p:nvSpPr>
          <p:cNvPr id="5" name="Text 3"/>
          <p:cNvSpPr txBox="1"/>
          <p:nvPr/>
        </p:nvSpPr>
        <p:spPr>
          <a:xfrm>
            <a:off x="11109960" y="384048"/>
            <a:ext cx="566928" cy="566928"/>
          </a:xfrm>
          <a:prstGeom prst="rect">
            <a:avLst/>
          </a:prstGeom>
          <a:noFill/>
          <a:ln/>
        </p:spPr>
        <p:txBody>
          <a:bodyPr wrap="square" lIns="0" tIns="0" rIns="0" bIns="0" rtlCol="0" anchor="ctr"/>
          <a:lstStyle/>
          <a:p>
            <a:pPr marL="0" indent="0" algn="ctr">
              <a:buNone/>
            </a:pPr>
            <a:r>
              <a:rPr lang="en-US" sz="1600" b="1" dirty="0">
                <a:solidFill>
                  <a:srgbClr val="004C8F"/>
                </a:solidFill>
                <a:latin typeface="Cambria" pitchFamily="34" charset="0"/>
                <a:ea typeface="Cambria" pitchFamily="34" charset="-122"/>
                <a:cs typeface="Cambria" pitchFamily="34" charset="-120"/>
              </a:rPr>
              <a:t>3</a:t>
            </a:r>
            <a:endParaRPr lang="en-US" sz="1600" dirty="0"/>
          </a:p>
        </p:txBody>
      </p:sp>
      <p:sp>
        <p:nvSpPr>
          <p:cNvPr id="6" name="Shape 4"/>
          <p:cNvSpPr/>
          <p:nvPr/>
        </p:nvSpPr>
        <p:spPr>
          <a:xfrm>
            <a:off x="548640" y="1481328"/>
            <a:ext cx="5120640" cy="2148840"/>
          </a:xfrm>
          <a:prstGeom prst="roundRect">
            <a:avLst>
              <a:gd name="adj" fmla="val 3404"/>
            </a:avLst>
          </a:prstGeom>
          <a:solidFill>
            <a:srgbClr val="0A2540"/>
          </a:solidFill>
          <a:ln w="12700">
            <a:solidFill>
              <a:srgbClr val="0A2540"/>
            </a:solidFill>
            <a:prstDash val="solid"/>
          </a:ln>
        </p:spPr>
      </p:sp>
      <p:sp>
        <p:nvSpPr>
          <p:cNvPr id="7" name="Text 5"/>
          <p:cNvSpPr txBox="1"/>
          <p:nvPr/>
        </p:nvSpPr>
        <p:spPr>
          <a:xfrm>
            <a:off x="868680" y="1691640"/>
            <a:ext cx="2743200" cy="256032"/>
          </a:xfrm>
          <a:prstGeom prst="rect">
            <a:avLst/>
          </a:prstGeom>
          <a:noFill/>
          <a:ln/>
        </p:spPr>
        <p:txBody>
          <a:bodyPr wrap="square" lIns="0" tIns="0" rIns="0" bIns="0" rtlCol="0" anchor="ctr"/>
          <a:lstStyle/>
          <a:p>
            <a:pPr marL="0" indent="0">
              <a:buNone/>
            </a:pPr>
            <a:r>
              <a:rPr lang="en-US" sz="1100" b="1" kern="0" spc="200" dirty="0">
                <a:solidFill>
                  <a:srgbClr val="8FB3D9"/>
                </a:solidFill>
                <a:latin typeface="Calibri" pitchFamily="34" charset="0"/>
                <a:ea typeface="Calibri" pitchFamily="34" charset="-122"/>
                <a:cs typeface="Calibri" pitchFamily="34" charset="-120"/>
              </a:rPr>
              <a:t>THE PROBLEM</a:t>
            </a:r>
            <a:endParaRPr lang="en-US" sz="1100" dirty="0"/>
          </a:p>
        </p:txBody>
      </p:sp>
      <p:sp>
        <p:nvSpPr>
          <p:cNvPr id="8" name="Text 6"/>
          <p:cNvSpPr txBox="1"/>
          <p:nvPr/>
        </p:nvSpPr>
        <p:spPr>
          <a:xfrm>
            <a:off x="868680" y="2011680"/>
            <a:ext cx="4480560" cy="1371600"/>
          </a:xfrm>
          <a:prstGeom prst="rect">
            <a:avLst/>
          </a:prstGeom>
          <a:noFill/>
          <a:ln/>
        </p:spPr>
        <p:txBody>
          <a:bodyPr wrap="square" lIns="0" tIns="0" rIns="0" bIns="0" rtlCol="0" anchor="ctr"/>
          <a:lstStyle/>
          <a:p>
            <a:pPr marL="0" indent="0">
              <a:lnSpc>
                <a:spcPts val="2200"/>
              </a:lnSpc>
              <a:buNone/>
            </a:pPr>
            <a:r>
              <a:rPr lang="en-US" sz="1450" dirty="0">
                <a:solidFill>
                  <a:srgbClr val="FFFFFF"/>
                </a:solidFill>
                <a:latin typeface="Calibri" pitchFamily="34" charset="0"/>
                <a:ea typeface="Calibri" pitchFamily="34" charset="-122"/>
                <a:cs typeface="Calibri" pitchFamily="34" charset="-120"/>
              </a:rPr>
              <a:t>Rule-based fraud systems cannot keep pace with digital payment fraud. They miss new fraud patterns and block too many genuine transactions.</a:t>
            </a:r>
            <a:endParaRPr lang="en-US" sz="1450" dirty="0"/>
          </a:p>
        </p:txBody>
      </p:sp>
      <p:sp>
        <p:nvSpPr>
          <p:cNvPr id="9" name="Shape 7"/>
          <p:cNvSpPr/>
          <p:nvPr/>
        </p:nvSpPr>
        <p:spPr>
          <a:xfrm>
            <a:off x="5989320" y="1481328"/>
            <a:ext cx="2697480" cy="960120"/>
          </a:xfrm>
          <a:prstGeom prst="roundRect">
            <a:avLst>
              <a:gd name="adj" fmla="val 7619"/>
            </a:avLst>
          </a:prstGeom>
          <a:solidFill>
            <a:srgbClr val="F1F5F9"/>
          </a:solidFill>
          <a:ln w="12700">
            <a:solidFill>
              <a:srgbClr val="F1F5F9"/>
            </a:solidFill>
            <a:prstDash val="solid"/>
          </a:ln>
        </p:spPr>
      </p:sp>
      <p:sp>
        <p:nvSpPr>
          <p:cNvPr id="10" name="Text 8"/>
          <p:cNvSpPr txBox="1"/>
          <p:nvPr/>
        </p:nvSpPr>
        <p:spPr>
          <a:xfrm>
            <a:off x="6153912" y="1591056"/>
            <a:ext cx="2377440" cy="274320"/>
          </a:xfrm>
          <a:prstGeom prst="rect">
            <a:avLst/>
          </a:prstGeom>
          <a:noFill/>
          <a:ln/>
        </p:spPr>
        <p:txBody>
          <a:bodyPr wrap="square" lIns="0" tIns="0" rIns="0" bIns="0" rtlCol="0" anchor="ctr"/>
          <a:lstStyle/>
          <a:p>
            <a:pPr marL="0" indent="0">
              <a:buNone/>
            </a:pPr>
            <a:r>
              <a:rPr lang="en-US" sz="1300" b="1" dirty="0">
                <a:solidFill>
                  <a:srgbClr val="ED232A"/>
                </a:solidFill>
                <a:latin typeface="Calibri" pitchFamily="34" charset="0"/>
                <a:ea typeface="Calibri" pitchFamily="34" charset="-122"/>
                <a:cs typeface="Calibri" pitchFamily="34" charset="-120"/>
              </a:rPr>
              <a:t>Financial loss</a:t>
            </a:r>
            <a:endParaRPr lang="en-US" sz="1300" dirty="0"/>
          </a:p>
        </p:txBody>
      </p:sp>
      <p:sp>
        <p:nvSpPr>
          <p:cNvPr id="11" name="Text 9"/>
          <p:cNvSpPr txBox="1"/>
          <p:nvPr/>
        </p:nvSpPr>
        <p:spPr>
          <a:xfrm>
            <a:off x="6153912" y="1865376"/>
            <a:ext cx="2377440" cy="502920"/>
          </a:xfrm>
          <a:prstGeom prst="rect">
            <a:avLst/>
          </a:prstGeom>
          <a:noFill/>
          <a:ln/>
        </p:spPr>
        <p:txBody>
          <a:bodyPr wrap="square" lIns="0" tIns="0" rIns="0" bIns="0" rtlCol="0" anchor="ctr"/>
          <a:lstStyle/>
          <a:p>
            <a:pPr marL="0" indent="0">
              <a:lnSpc>
                <a:spcPts val="1400"/>
              </a:lnSpc>
              <a:buNone/>
            </a:pPr>
            <a:r>
              <a:rPr lang="en-US" sz="1050" dirty="0">
                <a:solidFill>
                  <a:srgbClr val="5A6B7C"/>
                </a:solidFill>
                <a:latin typeface="Calibri" pitchFamily="34" charset="0"/>
                <a:ea typeface="Calibri" pitchFamily="34" charset="-122"/>
                <a:cs typeface="Calibri" pitchFamily="34" charset="-120"/>
              </a:rPr>
              <a:t>Fraud losses and customer compensation hit the bank's profit directly.</a:t>
            </a:r>
            <a:endParaRPr lang="en-US" sz="1050" dirty="0"/>
          </a:p>
        </p:txBody>
      </p:sp>
      <p:sp>
        <p:nvSpPr>
          <p:cNvPr id="12" name="Shape 10"/>
          <p:cNvSpPr/>
          <p:nvPr/>
        </p:nvSpPr>
        <p:spPr>
          <a:xfrm>
            <a:off x="8869680" y="1481328"/>
            <a:ext cx="2697480" cy="960120"/>
          </a:xfrm>
          <a:prstGeom prst="roundRect">
            <a:avLst>
              <a:gd name="adj" fmla="val 7619"/>
            </a:avLst>
          </a:prstGeom>
          <a:solidFill>
            <a:srgbClr val="F1F5F9"/>
          </a:solidFill>
          <a:ln w="12700">
            <a:solidFill>
              <a:srgbClr val="F1F5F9"/>
            </a:solidFill>
            <a:prstDash val="solid"/>
          </a:ln>
        </p:spPr>
      </p:sp>
      <p:sp>
        <p:nvSpPr>
          <p:cNvPr id="13" name="Text 11"/>
          <p:cNvSpPr txBox="1"/>
          <p:nvPr/>
        </p:nvSpPr>
        <p:spPr>
          <a:xfrm>
            <a:off x="9034272" y="1591056"/>
            <a:ext cx="2377440" cy="274320"/>
          </a:xfrm>
          <a:prstGeom prst="rect">
            <a:avLst/>
          </a:prstGeom>
          <a:noFill/>
          <a:ln/>
        </p:spPr>
        <p:txBody>
          <a:bodyPr wrap="square" lIns="0" tIns="0" rIns="0" bIns="0" rtlCol="0" anchor="ctr"/>
          <a:lstStyle/>
          <a:p>
            <a:pPr marL="0" indent="0">
              <a:buNone/>
            </a:pPr>
            <a:r>
              <a:rPr lang="en-US" sz="1300" b="1" dirty="0">
                <a:solidFill>
                  <a:srgbClr val="ED232A"/>
                </a:solidFill>
                <a:latin typeface="Calibri" pitchFamily="34" charset="0"/>
                <a:ea typeface="Calibri" pitchFamily="34" charset="-122"/>
                <a:cs typeface="Calibri" pitchFamily="34" charset="-120"/>
              </a:rPr>
              <a:t>Regulatory exposure</a:t>
            </a:r>
            <a:endParaRPr lang="en-US" sz="1300" dirty="0"/>
          </a:p>
        </p:txBody>
      </p:sp>
      <p:sp>
        <p:nvSpPr>
          <p:cNvPr id="14" name="Text 12"/>
          <p:cNvSpPr txBox="1"/>
          <p:nvPr/>
        </p:nvSpPr>
        <p:spPr>
          <a:xfrm>
            <a:off x="9034272" y="1865376"/>
            <a:ext cx="2377440" cy="502920"/>
          </a:xfrm>
          <a:prstGeom prst="rect">
            <a:avLst/>
          </a:prstGeom>
          <a:noFill/>
          <a:ln/>
        </p:spPr>
        <p:txBody>
          <a:bodyPr wrap="square" lIns="0" tIns="0" rIns="0" bIns="0" rtlCol="0" anchor="ctr"/>
          <a:lstStyle/>
          <a:p>
            <a:pPr marL="0" indent="0">
              <a:lnSpc>
                <a:spcPts val="1400"/>
              </a:lnSpc>
              <a:buNone/>
            </a:pPr>
            <a:r>
              <a:rPr lang="en-US" sz="1050" dirty="0">
                <a:solidFill>
                  <a:srgbClr val="5A6B7C"/>
                </a:solidFill>
                <a:latin typeface="Calibri" pitchFamily="34" charset="0"/>
                <a:ea typeface="Calibri" pitchFamily="34" charset="-122"/>
                <a:cs typeface="Calibri" pitchFamily="34" charset="-120"/>
              </a:rPr>
              <a:t>RBI mandates fraud reporting, monitoring and customer protection norms.</a:t>
            </a:r>
            <a:endParaRPr lang="en-US" sz="1050" dirty="0"/>
          </a:p>
        </p:txBody>
      </p:sp>
      <p:sp>
        <p:nvSpPr>
          <p:cNvPr id="15" name="Shape 13"/>
          <p:cNvSpPr/>
          <p:nvPr/>
        </p:nvSpPr>
        <p:spPr>
          <a:xfrm>
            <a:off x="5989320" y="2578608"/>
            <a:ext cx="2697480" cy="960120"/>
          </a:xfrm>
          <a:prstGeom prst="roundRect">
            <a:avLst>
              <a:gd name="adj" fmla="val 7619"/>
            </a:avLst>
          </a:prstGeom>
          <a:solidFill>
            <a:srgbClr val="F1F5F9"/>
          </a:solidFill>
          <a:ln w="12700">
            <a:solidFill>
              <a:srgbClr val="F1F5F9"/>
            </a:solidFill>
            <a:prstDash val="solid"/>
          </a:ln>
        </p:spPr>
      </p:sp>
      <p:sp>
        <p:nvSpPr>
          <p:cNvPr id="16" name="Text 14"/>
          <p:cNvSpPr txBox="1"/>
          <p:nvPr/>
        </p:nvSpPr>
        <p:spPr>
          <a:xfrm>
            <a:off x="6153912" y="2688336"/>
            <a:ext cx="2377440" cy="274320"/>
          </a:xfrm>
          <a:prstGeom prst="rect">
            <a:avLst/>
          </a:prstGeom>
          <a:noFill/>
          <a:ln/>
        </p:spPr>
        <p:txBody>
          <a:bodyPr wrap="square" lIns="0" tIns="0" rIns="0" bIns="0" rtlCol="0" anchor="ctr"/>
          <a:lstStyle/>
          <a:p>
            <a:pPr marL="0" indent="0">
              <a:buNone/>
            </a:pPr>
            <a:r>
              <a:rPr lang="en-US" sz="1300" b="1" dirty="0">
                <a:solidFill>
                  <a:srgbClr val="ED232A"/>
                </a:solidFill>
                <a:latin typeface="Calibri" pitchFamily="34" charset="0"/>
                <a:ea typeface="Calibri" pitchFamily="34" charset="-122"/>
                <a:cs typeface="Calibri" pitchFamily="34" charset="-120"/>
              </a:rPr>
              <a:t>Loss of trust</a:t>
            </a:r>
            <a:endParaRPr lang="en-US" sz="1300" dirty="0"/>
          </a:p>
        </p:txBody>
      </p:sp>
      <p:sp>
        <p:nvSpPr>
          <p:cNvPr id="17" name="Text 15"/>
          <p:cNvSpPr txBox="1"/>
          <p:nvPr/>
        </p:nvSpPr>
        <p:spPr>
          <a:xfrm>
            <a:off x="6153912" y="2962656"/>
            <a:ext cx="2377440" cy="502920"/>
          </a:xfrm>
          <a:prstGeom prst="rect">
            <a:avLst/>
          </a:prstGeom>
          <a:noFill/>
          <a:ln/>
        </p:spPr>
        <p:txBody>
          <a:bodyPr wrap="square" lIns="0" tIns="0" rIns="0" bIns="0" rtlCol="0" anchor="ctr"/>
          <a:lstStyle/>
          <a:p>
            <a:pPr marL="0" indent="0">
              <a:lnSpc>
                <a:spcPts val="1400"/>
              </a:lnSpc>
              <a:buNone/>
            </a:pPr>
            <a:r>
              <a:rPr lang="en-US" sz="1050" dirty="0">
                <a:solidFill>
                  <a:srgbClr val="5A6B7C"/>
                </a:solidFill>
                <a:latin typeface="Calibri" pitchFamily="34" charset="0"/>
                <a:ea typeface="Calibri" pitchFamily="34" charset="-122"/>
                <a:cs typeface="Calibri" pitchFamily="34" charset="-120"/>
              </a:rPr>
              <a:t>A single fraud incident can push a customer to close the relationship.</a:t>
            </a:r>
            <a:endParaRPr lang="en-US" sz="1050" dirty="0"/>
          </a:p>
        </p:txBody>
      </p:sp>
      <p:sp>
        <p:nvSpPr>
          <p:cNvPr id="18" name="Shape 16"/>
          <p:cNvSpPr/>
          <p:nvPr/>
        </p:nvSpPr>
        <p:spPr>
          <a:xfrm>
            <a:off x="8869680" y="2578608"/>
            <a:ext cx="2697480" cy="960120"/>
          </a:xfrm>
          <a:prstGeom prst="roundRect">
            <a:avLst>
              <a:gd name="adj" fmla="val 7619"/>
            </a:avLst>
          </a:prstGeom>
          <a:solidFill>
            <a:srgbClr val="F1F5F9"/>
          </a:solidFill>
          <a:ln w="12700">
            <a:solidFill>
              <a:srgbClr val="F1F5F9"/>
            </a:solidFill>
            <a:prstDash val="solid"/>
          </a:ln>
        </p:spPr>
      </p:sp>
      <p:sp>
        <p:nvSpPr>
          <p:cNvPr id="19" name="Text 17"/>
          <p:cNvSpPr txBox="1"/>
          <p:nvPr/>
        </p:nvSpPr>
        <p:spPr>
          <a:xfrm>
            <a:off x="9034272" y="2688336"/>
            <a:ext cx="2377440" cy="274320"/>
          </a:xfrm>
          <a:prstGeom prst="rect">
            <a:avLst/>
          </a:prstGeom>
          <a:noFill/>
          <a:ln/>
        </p:spPr>
        <p:txBody>
          <a:bodyPr wrap="square" lIns="0" tIns="0" rIns="0" bIns="0" rtlCol="0" anchor="ctr"/>
          <a:lstStyle/>
          <a:p>
            <a:pPr marL="0" indent="0">
              <a:buNone/>
            </a:pPr>
            <a:r>
              <a:rPr lang="en-US" sz="1300" b="1" dirty="0">
                <a:solidFill>
                  <a:srgbClr val="ED232A"/>
                </a:solidFill>
                <a:latin typeface="Calibri" pitchFamily="34" charset="0"/>
                <a:ea typeface="Calibri" pitchFamily="34" charset="-122"/>
                <a:cs typeface="Calibri" pitchFamily="34" charset="-120"/>
              </a:rPr>
              <a:t>Operational cost</a:t>
            </a:r>
            <a:endParaRPr lang="en-US" sz="1300" dirty="0"/>
          </a:p>
        </p:txBody>
      </p:sp>
      <p:sp>
        <p:nvSpPr>
          <p:cNvPr id="20" name="Text 18"/>
          <p:cNvSpPr txBox="1"/>
          <p:nvPr/>
        </p:nvSpPr>
        <p:spPr>
          <a:xfrm>
            <a:off x="9034272" y="2962656"/>
            <a:ext cx="2377440" cy="502920"/>
          </a:xfrm>
          <a:prstGeom prst="rect">
            <a:avLst/>
          </a:prstGeom>
          <a:noFill/>
          <a:ln/>
        </p:spPr>
        <p:txBody>
          <a:bodyPr wrap="square" lIns="0" tIns="0" rIns="0" bIns="0" rtlCol="0" anchor="ctr"/>
          <a:lstStyle/>
          <a:p>
            <a:pPr marL="0" indent="0">
              <a:lnSpc>
                <a:spcPts val="1400"/>
              </a:lnSpc>
              <a:buNone/>
            </a:pPr>
            <a:r>
              <a:rPr lang="en-US" sz="1050" dirty="0">
                <a:solidFill>
                  <a:srgbClr val="5A6B7C"/>
                </a:solidFill>
                <a:latin typeface="Calibri" pitchFamily="34" charset="0"/>
                <a:ea typeface="Calibri" pitchFamily="34" charset="-122"/>
                <a:cs typeface="Calibri" pitchFamily="34" charset="-120"/>
              </a:rPr>
              <a:t>Every false alert consumes an investigator's time and a call-centre contact.</a:t>
            </a:r>
            <a:endParaRPr lang="en-US" sz="1050" dirty="0"/>
          </a:p>
        </p:txBody>
      </p:sp>
      <p:sp>
        <p:nvSpPr>
          <p:cNvPr id="21" name="Text 19"/>
          <p:cNvSpPr txBox="1"/>
          <p:nvPr/>
        </p:nvSpPr>
        <p:spPr>
          <a:xfrm>
            <a:off x="548640" y="3840480"/>
            <a:ext cx="5486400" cy="32004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Why this matters now</a:t>
            </a:r>
            <a:endParaRPr lang="en-US" sz="1500" dirty="0"/>
          </a:p>
        </p:txBody>
      </p:sp>
      <p:sp>
        <p:nvSpPr>
          <p:cNvPr id="22" name="Text 20"/>
          <p:cNvSpPr txBox="1"/>
          <p:nvPr/>
        </p:nvSpPr>
        <p:spPr>
          <a:xfrm>
            <a:off x="548640" y="4206240"/>
            <a:ext cx="5394960" cy="210312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3D4C5A"/>
                </a:solidFill>
                <a:latin typeface="Calibri" pitchFamily="34" charset="0"/>
                <a:ea typeface="Calibri" pitchFamily="34" charset="-122"/>
                <a:cs typeface="Calibri" pitchFamily="34" charset="-120"/>
              </a:rPr>
              <a:t>Fraud reported by Indian banks rose to ₹48,021 crore in FY2025-26, from ₹36,014 crore in FY2024-25 (RBI Annual Reports).</a:t>
            </a:r>
            <a:endParaRPr lang="en-US" sz="1200" dirty="0"/>
          </a:p>
          <a:p>
            <a:pPr marL="342900" indent="-342900">
              <a:lnSpc>
                <a:spcPts val="1600"/>
              </a:lnSpc>
              <a:spcAft>
                <a:spcPts val="800"/>
              </a:spcAft>
              <a:buSzPct val="100000"/>
              <a:buChar char="•"/>
            </a:pPr>
            <a:r>
              <a:rPr lang="en-US" sz="1200" dirty="0">
                <a:solidFill>
                  <a:srgbClr val="3D4C5A"/>
                </a:solidFill>
                <a:latin typeface="Calibri" pitchFamily="34" charset="0"/>
                <a:ea typeface="Calibri" pitchFamily="34" charset="-122"/>
                <a:cs typeface="Calibri" pitchFamily="34" charset="-120"/>
              </a:rPr>
              <a:t>Private sector banks account for the largest number of fraud cases — mainly small-value card and internet transactions.</a:t>
            </a:r>
            <a:endParaRPr lang="en-US" sz="1200" dirty="0"/>
          </a:p>
          <a:p>
            <a:pPr marL="342900" indent="-342900">
              <a:lnSpc>
                <a:spcPts val="1600"/>
              </a:lnSpc>
              <a:spcAft>
                <a:spcPts val="800"/>
              </a:spcAft>
              <a:buSzPct val="100000"/>
              <a:buChar char="•"/>
            </a:pPr>
            <a:r>
              <a:rPr lang="en-US" sz="1200" dirty="0">
                <a:solidFill>
                  <a:srgbClr val="3D4C5A"/>
                </a:solidFill>
                <a:latin typeface="Calibri" pitchFamily="34" charset="0"/>
                <a:ea typeface="Calibri" pitchFamily="34" charset="-122"/>
                <a:cs typeface="Calibri" pitchFamily="34" charset="-120"/>
              </a:rPr>
              <a:t>UPI recorded 185.8 billion transactions in FY25, up 41.7% year on year, expanding the attack surface.</a:t>
            </a:r>
            <a:endParaRPr lang="en-US" sz="1200" dirty="0"/>
          </a:p>
          <a:p>
            <a:pPr marL="342900" indent="-342900">
              <a:lnSpc>
                <a:spcPts val="1600"/>
              </a:lnSpc>
              <a:spcAft>
                <a:spcPts val="800"/>
              </a:spcAft>
              <a:buSzPct val="100000"/>
              <a:buChar char="•"/>
            </a:pPr>
            <a:r>
              <a:rPr lang="en-US" sz="1200" dirty="0">
                <a:solidFill>
                  <a:srgbClr val="3D4C5A"/>
                </a:solidFill>
                <a:latin typeface="Calibri" pitchFamily="34" charset="0"/>
                <a:ea typeface="Calibri" pitchFamily="34" charset="-122"/>
                <a:cs typeface="Calibri" pitchFamily="34" charset="-120"/>
              </a:rPr>
              <a:t>RBI notes a significant time lag between when a fraud occurs and when it is detected.</a:t>
            </a:r>
            <a:endParaRPr lang="en-US" sz="1200" dirty="0"/>
          </a:p>
        </p:txBody>
      </p:sp>
      <p:graphicFrame>
        <p:nvGraphicFramePr>
          <p:cNvPr id="23" name="Chart 0"/>
          <p:cNvGraphicFramePr/>
          <p:nvPr/>
        </p:nvGraphicFramePr>
        <p:xfrm>
          <a:off x="6309360" y="3886200"/>
          <a:ext cx="530352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 21"/>
          <p:cNvSpPr txBox="1"/>
          <p:nvPr/>
        </p:nvSpPr>
        <p:spPr>
          <a:xfrm>
            <a:off x="6309360" y="6172200"/>
            <a:ext cx="5303520" cy="274320"/>
          </a:xfrm>
          <a:prstGeom prst="rect">
            <a:avLst/>
          </a:prstGeom>
          <a:noFill/>
          <a:ln/>
        </p:spPr>
        <p:txBody>
          <a:bodyPr wrap="square" lIns="0" tIns="0" rIns="0" bIns="0" rtlCol="0" anchor="ctr"/>
          <a:lstStyle/>
          <a:p>
            <a:pPr marL="0" indent="0">
              <a:buNone/>
            </a:pPr>
            <a:r>
              <a:rPr lang="en-US" sz="850" i="1" dirty="0">
                <a:solidFill>
                  <a:srgbClr val="5A6B7C"/>
                </a:solidFill>
                <a:latin typeface="Calibri" pitchFamily="34" charset="0"/>
                <a:ea typeface="Calibri" pitchFamily="34" charset="-122"/>
                <a:cs typeface="Calibri" pitchFamily="34" charset="-120"/>
              </a:rPr>
              <a:t>Note: each year's figure is as reported in that year's RBI Annual Report; totals include cases reclassified from earlier years.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9509760" cy="548640"/>
          </a:xfrm>
          <a:prstGeom prst="rect">
            <a:avLst/>
          </a:prstGeom>
          <a:noFill/>
          <a:ln/>
        </p:spPr>
        <p:txBody>
          <a:bodyPr wrap="square" lIns="0" tIns="0" rIns="0" bIns="0" rtlCol="0" anchor="ctr"/>
          <a:lstStyle/>
          <a:p>
            <a:pPr marL="0" indent="0">
              <a:buNone/>
            </a:pPr>
            <a:r>
              <a:rPr lang="en-US" sz="3200" b="1" dirty="0">
                <a:solidFill>
                  <a:srgbClr val="0A2540"/>
                </a:solidFill>
                <a:latin typeface="Cambria" pitchFamily="34" charset="0"/>
                <a:ea typeface="Cambria" pitchFamily="34" charset="-122"/>
                <a:cs typeface="Cambria" pitchFamily="34" charset="-120"/>
              </a:rPr>
              <a:t>Data Required</a:t>
            </a:r>
            <a:endParaRPr lang="en-US" sz="3200" dirty="0"/>
          </a:p>
        </p:txBody>
      </p:sp>
      <p:sp>
        <p:nvSpPr>
          <p:cNvPr id="3" name="Text 1"/>
          <p:cNvSpPr txBox="1"/>
          <p:nvPr/>
        </p:nvSpPr>
        <p:spPr>
          <a:xfrm>
            <a:off x="548640" y="950976"/>
            <a:ext cx="9509760" cy="292608"/>
          </a:xfrm>
          <a:prstGeom prst="rect">
            <a:avLst/>
          </a:prstGeom>
          <a:noFill/>
          <a:ln/>
        </p:spPr>
        <p:txBody>
          <a:bodyPr wrap="square" lIns="0" tIns="0" rIns="0" bIns="0" rtlCol="0" anchor="ctr"/>
          <a:lstStyle/>
          <a:p>
            <a:pPr marL="0" indent="0">
              <a:buNone/>
            </a:pPr>
            <a:r>
              <a:rPr lang="en-US" sz="1300" i="1" dirty="0">
                <a:solidFill>
                  <a:srgbClr val="5A6B7C"/>
                </a:solidFill>
                <a:latin typeface="Calibri" pitchFamily="34" charset="0"/>
                <a:ea typeface="Calibri" pitchFamily="34" charset="-122"/>
                <a:cs typeface="Calibri" pitchFamily="34" charset="-120"/>
              </a:rPr>
              <a:t>What an ML fraud model would need to learn from</a:t>
            </a:r>
            <a:endParaRPr lang="en-US" sz="1300" dirty="0"/>
          </a:p>
        </p:txBody>
      </p:sp>
      <p:sp>
        <p:nvSpPr>
          <p:cNvPr id="4" name="Shape 2"/>
          <p:cNvSpPr/>
          <p:nvPr/>
        </p:nvSpPr>
        <p:spPr>
          <a:xfrm>
            <a:off x="11109960" y="384048"/>
            <a:ext cx="566928" cy="566928"/>
          </a:xfrm>
          <a:prstGeom prst="ellipse">
            <a:avLst/>
          </a:prstGeom>
          <a:solidFill>
            <a:srgbClr val="F1F5F9"/>
          </a:solidFill>
          <a:ln/>
        </p:spPr>
      </p:sp>
      <p:sp>
        <p:nvSpPr>
          <p:cNvPr id="5" name="Text 3"/>
          <p:cNvSpPr txBox="1"/>
          <p:nvPr/>
        </p:nvSpPr>
        <p:spPr>
          <a:xfrm>
            <a:off x="11109960" y="384048"/>
            <a:ext cx="566928" cy="566928"/>
          </a:xfrm>
          <a:prstGeom prst="rect">
            <a:avLst/>
          </a:prstGeom>
          <a:noFill/>
          <a:ln/>
        </p:spPr>
        <p:txBody>
          <a:bodyPr wrap="square" lIns="0" tIns="0" rIns="0" bIns="0" rtlCol="0" anchor="ctr"/>
          <a:lstStyle/>
          <a:p>
            <a:pPr marL="0" indent="0" algn="ctr">
              <a:buNone/>
            </a:pPr>
            <a:r>
              <a:rPr lang="en-US" sz="1600" b="1" dirty="0">
                <a:solidFill>
                  <a:srgbClr val="004C8F"/>
                </a:solidFill>
                <a:latin typeface="Cambria" pitchFamily="34" charset="0"/>
                <a:ea typeface="Cambria" pitchFamily="34" charset="-122"/>
                <a:cs typeface="Cambria" pitchFamily="34" charset="-120"/>
              </a:rPr>
              <a:t>4</a:t>
            </a:r>
            <a:endParaRPr lang="en-US" sz="1600" dirty="0"/>
          </a:p>
        </p:txBody>
      </p:sp>
      <p:sp>
        <p:nvSpPr>
          <p:cNvPr id="6" name="Shape 4"/>
          <p:cNvSpPr/>
          <p:nvPr/>
        </p:nvSpPr>
        <p:spPr>
          <a:xfrm>
            <a:off x="548640" y="1572768"/>
            <a:ext cx="3547872" cy="1627632"/>
          </a:xfrm>
          <a:prstGeom prst="roundRect">
            <a:avLst>
              <a:gd name="adj" fmla="val 4494"/>
            </a:avLst>
          </a:prstGeom>
          <a:solidFill>
            <a:srgbClr val="FFFFFF"/>
          </a:solidFill>
          <a:ln w="12700">
            <a:solidFill>
              <a:srgbClr val="DCE4EC"/>
            </a:solidFill>
            <a:prstDash val="solid"/>
          </a:ln>
        </p:spPr>
      </p:sp>
      <p:sp>
        <p:nvSpPr>
          <p:cNvPr id="7" name="Shape 5"/>
          <p:cNvSpPr/>
          <p:nvPr/>
        </p:nvSpPr>
        <p:spPr>
          <a:xfrm>
            <a:off x="749808" y="1773936"/>
            <a:ext cx="329184" cy="329184"/>
          </a:xfrm>
          <a:prstGeom prst="roundRect">
            <a:avLst>
              <a:gd name="adj" fmla="val 16667"/>
            </a:avLst>
          </a:prstGeom>
          <a:solidFill>
            <a:srgbClr val="004C8F"/>
          </a:solidFill>
          <a:ln/>
        </p:spPr>
      </p:sp>
      <p:sp>
        <p:nvSpPr>
          <p:cNvPr id="8" name="Text 6"/>
          <p:cNvSpPr txBox="1"/>
          <p:nvPr/>
        </p:nvSpPr>
        <p:spPr>
          <a:xfrm>
            <a:off x="749808" y="17739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188720" y="1792224"/>
            <a:ext cx="2697480" cy="292608"/>
          </a:xfrm>
          <a:prstGeom prst="rect">
            <a:avLst/>
          </a:prstGeom>
          <a:noFill/>
          <a:ln/>
        </p:spPr>
        <p:txBody>
          <a:bodyPr wrap="square" lIns="0" tIns="0" rIns="0" bIns="0" rtlCol="0" anchor="ctr"/>
          <a:lstStyle/>
          <a:p>
            <a:pPr marL="0" indent="0">
              <a:buNone/>
            </a:pPr>
            <a:r>
              <a:rPr lang="en-US" sz="1350" b="1" dirty="0">
                <a:solidFill>
                  <a:srgbClr val="0A2540"/>
                </a:solidFill>
                <a:latin typeface="Calibri" pitchFamily="34" charset="0"/>
                <a:ea typeface="Calibri" pitchFamily="34" charset="-122"/>
                <a:cs typeface="Calibri" pitchFamily="34" charset="-120"/>
              </a:rPr>
              <a:t>Transaction data</a:t>
            </a:r>
            <a:endParaRPr lang="en-US" sz="1350" dirty="0"/>
          </a:p>
        </p:txBody>
      </p:sp>
      <p:sp>
        <p:nvSpPr>
          <p:cNvPr id="10" name="Text 8"/>
          <p:cNvSpPr txBox="1"/>
          <p:nvPr/>
        </p:nvSpPr>
        <p:spPr>
          <a:xfrm>
            <a:off x="749808" y="2231136"/>
            <a:ext cx="3154680" cy="868680"/>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Amount, timestamp, channel (UPI / card / net banking), merchant category, beneficiary account, device and IP address.</a:t>
            </a:r>
            <a:endParaRPr lang="en-US" sz="1100" dirty="0"/>
          </a:p>
        </p:txBody>
      </p:sp>
      <p:sp>
        <p:nvSpPr>
          <p:cNvPr id="11" name="Shape 9"/>
          <p:cNvSpPr/>
          <p:nvPr/>
        </p:nvSpPr>
        <p:spPr>
          <a:xfrm>
            <a:off x="4315968" y="1572768"/>
            <a:ext cx="3547872" cy="1627632"/>
          </a:xfrm>
          <a:prstGeom prst="roundRect">
            <a:avLst>
              <a:gd name="adj" fmla="val 4494"/>
            </a:avLst>
          </a:prstGeom>
          <a:solidFill>
            <a:srgbClr val="FFFFFF"/>
          </a:solidFill>
          <a:ln w="12700">
            <a:solidFill>
              <a:srgbClr val="DCE4EC"/>
            </a:solidFill>
            <a:prstDash val="solid"/>
          </a:ln>
        </p:spPr>
      </p:sp>
      <p:sp>
        <p:nvSpPr>
          <p:cNvPr id="12" name="Shape 10"/>
          <p:cNvSpPr/>
          <p:nvPr/>
        </p:nvSpPr>
        <p:spPr>
          <a:xfrm>
            <a:off x="4517136" y="1773936"/>
            <a:ext cx="329184" cy="329184"/>
          </a:xfrm>
          <a:prstGeom prst="roundRect">
            <a:avLst>
              <a:gd name="adj" fmla="val 16667"/>
            </a:avLst>
          </a:prstGeom>
          <a:solidFill>
            <a:srgbClr val="004C8F"/>
          </a:solidFill>
          <a:ln/>
        </p:spPr>
      </p:sp>
      <p:sp>
        <p:nvSpPr>
          <p:cNvPr id="13" name="Text 11"/>
          <p:cNvSpPr txBox="1"/>
          <p:nvPr/>
        </p:nvSpPr>
        <p:spPr>
          <a:xfrm>
            <a:off x="4517136" y="17739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4956048" y="1792224"/>
            <a:ext cx="2697480" cy="292608"/>
          </a:xfrm>
          <a:prstGeom prst="rect">
            <a:avLst/>
          </a:prstGeom>
          <a:noFill/>
          <a:ln/>
        </p:spPr>
        <p:txBody>
          <a:bodyPr wrap="square" lIns="0" tIns="0" rIns="0" bIns="0" rtlCol="0" anchor="ctr"/>
          <a:lstStyle/>
          <a:p>
            <a:pPr marL="0" indent="0">
              <a:buNone/>
            </a:pPr>
            <a:r>
              <a:rPr lang="en-US" sz="1350" b="1" dirty="0">
                <a:solidFill>
                  <a:srgbClr val="0A2540"/>
                </a:solidFill>
                <a:latin typeface="Calibri" pitchFamily="34" charset="0"/>
                <a:ea typeface="Calibri" pitchFamily="34" charset="-122"/>
                <a:cs typeface="Calibri" pitchFamily="34" charset="-120"/>
              </a:rPr>
              <a:t>Customer profile</a:t>
            </a:r>
            <a:endParaRPr lang="en-US" sz="1350" dirty="0"/>
          </a:p>
        </p:txBody>
      </p:sp>
      <p:sp>
        <p:nvSpPr>
          <p:cNvPr id="15" name="Text 13"/>
          <p:cNvSpPr txBox="1"/>
          <p:nvPr/>
        </p:nvSpPr>
        <p:spPr>
          <a:xfrm>
            <a:off x="4517136" y="2231136"/>
            <a:ext cx="3154680" cy="868680"/>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Age, occupation, income band, account vintage, KYC details, product holdings, risk category.</a:t>
            </a:r>
            <a:endParaRPr lang="en-US" sz="1100" dirty="0"/>
          </a:p>
        </p:txBody>
      </p:sp>
      <p:sp>
        <p:nvSpPr>
          <p:cNvPr id="16" name="Shape 14"/>
          <p:cNvSpPr/>
          <p:nvPr/>
        </p:nvSpPr>
        <p:spPr>
          <a:xfrm>
            <a:off x="8083296" y="1572768"/>
            <a:ext cx="3547872" cy="1627632"/>
          </a:xfrm>
          <a:prstGeom prst="roundRect">
            <a:avLst>
              <a:gd name="adj" fmla="val 4494"/>
            </a:avLst>
          </a:prstGeom>
          <a:solidFill>
            <a:srgbClr val="FFFFFF"/>
          </a:solidFill>
          <a:ln w="12700">
            <a:solidFill>
              <a:srgbClr val="DCE4EC"/>
            </a:solidFill>
            <a:prstDash val="solid"/>
          </a:ln>
        </p:spPr>
      </p:sp>
      <p:sp>
        <p:nvSpPr>
          <p:cNvPr id="17" name="Shape 15"/>
          <p:cNvSpPr/>
          <p:nvPr/>
        </p:nvSpPr>
        <p:spPr>
          <a:xfrm>
            <a:off x="8284464" y="1773936"/>
            <a:ext cx="329184" cy="329184"/>
          </a:xfrm>
          <a:prstGeom prst="roundRect">
            <a:avLst>
              <a:gd name="adj" fmla="val 16667"/>
            </a:avLst>
          </a:prstGeom>
          <a:solidFill>
            <a:srgbClr val="004C8F"/>
          </a:solidFill>
          <a:ln/>
        </p:spPr>
      </p:sp>
      <p:sp>
        <p:nvSpPr>
          <p:cNvPr id="18" name="Text 16"/>
          <p:cNvSpPr txBox="1"/>
          <p:nvPr/>
        </p:nvSpPr>
        <p:spPr>
          <a:xfrm>
            <a:off x="8284464" y="17739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8723376" y="1792224"/>
            <a:ext cx="2697480" cy="292608"/>
          </a:xfrm>
          <a:prstGeom prst="rect">
            <a:avLst/>
          </a:prstGeom>
          <a:noFill/>
          <a:ln/>
        </p:spPr>
        <p:txBody>
          <a:bodyPr wrap="square" lIns="0" tIns="0" rIns="0" bIns="0" rtlCol="0" anchor="ctr"/>
          <a:lstStyle/>
          <a:p>
            <a:pPr marL="0" indent="0">
              <a:buNone/>
            </a:pPr>
            <a:r>
              <a:rPr lang="en-US" sz="1350" b="1" dirty="0">
                <a:solidFill>
                  <a:srgbClr val="0A2540"/>
                </a:solidFill>
                <a:latin typeface="Calibri" pitchFamily="34" charset="0"/>
                <a:ea typeface="Calibri" pitchFamily="34" charset="-122"/>
                <a:cs typeface="Calibri" pitchFamily="34" charset="-120"/>
              </a:rPr>
              <a:t>Behavioural history</a:t>
            </a:r>
            <a:endParaRPr lang="en-US" sz="1350" dirty="0"/>
          </a:p>
        </p:txBody>
      </p:sp>
      <p:sp>
        <p:nvSpPr>
          <p:cNvPr id="20" name="Text 18"/>
          <p:cNvSpPr txBox="1"/>
          <p:nvPr/>
        </p:nvSpPr>
        <p:spPr>
          <a:xfrm>
            <a:off x="8284464" y="2231136"/>
            <a:ext cx="3154680" cy="868680"/>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Typical spending amounts, usual transaction times, frequent merchants, home location, historic velocity of payments.</a:t>
            </a:r>
            <a:endParaRPr lang="en-US" sz="1100" dirty="0"/>
          </a:p>
        </p:txBody>
      </p:sp>
      <p:sp>
        <p:nvSpPr>
          <p:cNvPr id="21" name="Shape 19"/>
          <p:cNvSpPr/>
          <p:nvPr/>
        </p:nvSpPr>
        <p:spPr>
          <a:xfrm>
            <a:off x="548640" y="3447288"/>
            <a:ext cx="3547872" cy="1627632"/>
          </a:xfrm>
          <a:prstGeom prst="roundRect">
            <a:avLst>
              <a:gd name="adj" fmla="val 4494"/>
            </a:avLst>
          </a:prstGeom>
          <a:solidFill>
            <a:srgbClr val="FFFFFF"/>
          </a:solidFill>
          <a:ln w="12700">
            <a:solidFill>
              <a:srgbClr val="DCE4EC"/>
            </a:solidFill>
            <a:prstDash val="solid"/>
          </a:ln>
        </p:spPr>
      </p:sp>
      <p:sp>
        <p:nvSpPr>
          <p:cNvPr id="22" name="Shape 20"/>
          <p:cNvSpPr/>
          <p:nvPr/>
        </p:nvSpPr>
        <p:spPr>
          <a:xfrm>
            <a:off x="749808" y="3648456"/>
            <a:ext cx="329184" cy="329184"/>
          </a:xfrm>
          <a:prstGeom prst="roundRect">
            <a:avLst>
              <a:gd name="adj" fmla="val 16667"/>
            </a:avLst>
          </a:prstGeom>
          <a:solidFill>
            <a:srgbClr val="004C8F"/>
          </a:solidFill>
          <a:ln/>
        </p:spPr>
      </p:sp>
      <p:sp>
        <p:nvSpPr>
          <p:cNvPr id="23" name="Text 21"/>
          <p:cNvSpPr txBox="1"/>
          <p:nvPr/>
        </p:nvSpPr>
        <p:spPr>
          <a:xfrm>
            <a:off x="749808" y="36484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txBox="1"/>
          <p:nvPr/>
        </p:nvSpPr>
        <p:spPr>
          <a:xfrm>
            <a:off x="1188720" y="3666744"/>
            <a:ext cx="2697480" cy="292608"/>
          </a:xfrm>
          <a:prstGeom prst="rect">
            <a:avLst/>
          </a:prstGeom>
          <a:noFill/>
          <a:ln/>
        </p:spPr>
        <p:txBody>
          <a:bodyPr wrap="square" lIns="0" tIns="0" rIns="0" bIns="0" rtlCol="0" anchor="ctr"/>
          <a:lstStyle/>
          <a:p>
            <a:pPr marL="0" indent="0">
              <a:buNone/>
            </a:pPr>
            <a:r>
              <a:rPr lang="en-US" sz="1350" b="1" dirty="0">
                <a:solidFill>
                  <a:srgbClr val="0A2540"/>
                </a:solidFill>
                <a:latin typeface="Calibri" pitchFamily="34" charset="0"/>
                <a:ea typeface="Calibri" pitchFamily="34" charset="-122"/>
                <a:cs typeface="Calibri" pitchFamily="34" charset="-120"/>
              </a:rPr>
              <a:t>Device &amp; session data</a:t>
            </a:r>
            <a:endParaRPr lang="en-US" sz="1350" dirty="0"/>
          </a:p>
        </p:txBody>
      </p:sp>
      <p:sp>
        <p:nvSpPr>
          <p:cNvPr id="25" name="Text 23"/>
          <p:cNvSpPr txBox="1"/>
          <p:nvPr/>
        </p:nvSpPr>
        <p:spPr>
          <a:xfrm>
            <a:off x="749808" y="4105656"/>
            <a:ext cx="3154680" cy="868680"/>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Device fingerprint, SIM change, login location, typing and swipe patterns (behavioural biometrics).</a:t>
            </a:r>
            <a:endParaRPr lang="en-US" sz="1100" dirty="0"/>
          </a:p>
        </p:txBody>
      </p:sp>
      <p:sp>
        <p:nvSpPr>
          <p:cNvPr id="26" name="Shape 24"/>
          <p:cNvSpPr/>
          <p:nvPr/>
        </p:nvSpPr>
        <p:spPr>
          <a:xfrm>
            <a:off x="4315968" y="3447288"/>
            <a:ext cx="3547872" cy="1627632"/>
          </a:xfrm>
          <a:prstGeom prst="roundRect">
            <a:avLst>
              <a:gd name="adj" fmla="val 4494"/>
            </a:avLst>
          </a:prstGeom>
          <a:solidFill>
            <a:srgbClr val="FFFFFF"/>
          </a:solidFill>
          <a:ln w="12700">
            <a:solidFill>
              <a:srgbClr val="DCE4EC"/>
            </a:solidFill>
            <a:prstDash val="solid"/>
          </a:ln>
        </p:spPr>
      </p:sp>
      <p:sp>
        <p:nvSpPr>
          <p:cNvPr id="27" name="Shape 25"/>
          <p:cNvSpPr/>
          <p:nvPr/>
        </p:nvSpPr>
        <p:spPr>
          <a:xfrm>
            <a:off x="4517136" y="3648456"/>
            <a:ext cx="329184" cy="329184"/>
          </a:xfrm>
          <a:prstGeom prst="roundRect">
            <a:avLst>
              <a:gd name="adj" fmla="val 16667"/>
            </a:avLst>
          </a:prstGeom>
          <a:solidFill>
            <a:srgbClr val="004C8F"/>
          </a:solidFill>
          <a:ln/>
        </p:spPr>
      </p:sp>
      <p:sp>
        <p:nvSpPr>
          <p:cNvPr id="28" name="Text 26"/>
          <p:cNvSpPr txBox="1"/>
          <p:nvPr/>
        </p:nvSpPr>
        <p:spPr>
          <a:xfrm>
            <a:off x="4517136" y="36484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9" name="Text 27"/>
          <p:cNvSpPr txBox="1"/>
          <p:nvPr/>
        </p:nvSpPr>
        <p:spPr>
          <a:xfrm>
            <a:off x="4956048" y="3666744"/>
            <a:ext cx="2697480" cy="292608"/>
          </a:xfrm>
          <a:prstGeom prst="rect">
            <a:avLst/>
          </a:prstGeom>
          <a:noFill/>
          <a:ln/>
        </p:spPr>
        <p:txBody>
          <a:bodyPr wrap="square" lIns="0" tIns="0" rIns="0" bIns="0" rtlCol="0" anchor="ctr"/>
          <a:lstStyle/>
          <a:p>
            <a:pPr marL="0" indent="0">
              <a:buNone/>
            </a:pPr>
            <a:r>
              <a:rPr lang="en-US" sz="1350" b="1" dirty="0">
                <a:solidFill>
                  <a:srgbClr val="0A2540"/>
                </a:solidFill>
                <a:latin typeface="Calibri" pitchFamily="34" charset="0"/>
                <a:ea typeface="Calibri" pitchFamily="34" charset="-122"/>
                <a:cs typeface="Calibri" pitchFamily="34" charset="-120"/>
              </a:rPr>
              <a:t>Historic fraud labels</a:t>
            </a:r>
            <a:endParaRPr lang="en-US" sz="1350" dirty="0"/>
          </a:p>
        </p:txBody>
      </p:sp>
      <p:sp>
        <p:nvSpPr>
          <p:cNvPr id="30" name="Text 28"/>
          <p:cNvSpPr txBox="1"/>
          <p:nvPr/>
        </p:nvSpPr>
        <p:spPr>
          <a:xfrm>
            <a:off x="4517136" y="4105656"/>
            <a:ext cx="3154680" cy="868680"/>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Past confirmed fraud cases and disputed transactions — the labelled examples the model trains on.</a:t>
            </a:r>
            <a:endParaRPr lang="en-US" sz="1100" dirty="0"/>
          </a:p>
        </p:txBody>
      </p:sp>
      <p:sp>
        <p:nvSpPr>
          <p:cNvPr id="31" name="Shape 29"/>
          <p:cNvSpPr/>
          <p:nvPr/>
        </p:nvSpPr>
        <p:spPr>
          <a:xfrm>
            <a:off x="8083296" y="3447288"/>
            <a:ext cx="3547872" cy="1627632"/>
          </a:xfrm>
          <a:prstGeom prst="roundRect">
            <a:avLst>
              <a:gd name="adj" fmla="val 4494"/>
            </a:avLst>
          </a:prstGeom>
          <a:solidFill>
            <a:srgbClr val="FFFFFF"/>
          </a:solidFill>
          <a:ln w="12700">
            <a:solidFill>
              <a:srgbClr val="DCE4EC"/>
            </a:solidFill>
            <a:prstDash val="solid"/>
          </a:ln>
        </p:spPr>
      </p:sp>
      <p:sp>
        <p:nvSpPr>
          <p:cNvPr id="32" name="Shape 30"/>
          <p:cNvSpPr/>
          <p:nvPr/>
        </p:nvSpPr>
        <p:spPr>
          <a:xfrm>
            <a:off x="8284464" y="3648456"/>
            <a:ext cx="329184" cy="329184"/>
          </a:xfrm>
          <a:prstGeom prst="roundRect">
            <a:avLst>
              <a:gd name="adj" fmla="val 16667"/>
            </a:avLst>
          </a:prstGeom>
          <a:solidFill>
            <a:srgbClr val="004C8F"/>
          </a:solidFill>
          <a:ln/>
        </p:spPr>
      </p:sp>
      <p:sp>
        <p:nvSpPr>
          <p:cNvPr id="33" name="Text 31"/>
          <p:cNvSpPr txBox="1"/>
          <p:nvPr/>
        </p:nvSpPr>
        <p:spPr>
          <a:xfrm>
            <a:off x="8284464" y="36484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4" name="Text 32"/>
          <p:cNvSpPr txBox="1"/>
          <p:nvPr/>
        </p:nvSpPr>
        <p:spPr>
          <a:xfrm>
            <a:off x="8723376" y="3666744"/>
            <a:ext cx="2697480" cy="292608"/>
          </a:xfrm>
          <a:prstGeom prst="rect">
            <a:avLst/>
          </a:prstGeom>
          <a:noFill/>
          <a:ln/>
        </p:spPr>
        <p:txBody>
          <a:bodyPr wrap="square" lIns="0" tIns="0" rIns="0" bIns="0" rtlCol="0" anchor="ctr"/>
          <a:lstStyle/>
          <a:p>
            <a:pPr marL="0" indent="0">
              <a:buNone/>
            </a:pPr>
            <a:r>
              <a:rPr lang="en-US" sz="1350" b="1" dirty="0">
                <a:solidFill>
                  <a:srgbClr val="0A2540"/>
                </a:solidFill>
                <a:latin typeface="Calibri" pitchFamily="34" charset="0"/>
                <a:ea typeface="Calibri" pitchFamily="34" charset="-122"/>
                <a:cs typeface="Calibri" pitchFamily="34" charset="-120"/>
              </a:rPr>
              <a:t>External signals</a:t>
            </a:r>
            <a:endParaRPr lang="en-US" sz="1350" dirty="0"/>
          </a:p>
        </p:txBody>
      </p:sp>
      <p:sp>
        <p:nvSpPr>
          <p:cNvPr id="35" name="Text 33"/>
          <p:cNvSpPr txBox="1"/>
          <p:nvPr/>
        </p:nvSpPr>
        <p:spPr>
          <a:xfrm>
            <a:off x="8284464" y="4105656"/>
            <a:ext cx="3154680" cy="868680"/>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Mule account lists, RBI and NPCI fraud advisories, blacklisted VPAs and merchant IDs.</a:t>
            </a:r>
            <a:endParaRPr lang="en-US" sz="1100" dirty="0"/>
          </a:p>
        </p:txBody>
      </p:sp>
      <p:sp>
        <p:nvSpPr>
          <p:cNvPr id="36" name="Shape 34"/>
          <p:cNvSpPr/>
          <p:nvPr/>
        </p:nvSpPr>
        <p:spPr>
          <a:xfrm>
            <a:off x="548640" y="5532120"/>
            <a:ext cx="11091672" cy="713232"/>
          </a:xfrm>
          <a:prstGeom prst="roundRect">
            <a:avLst>
              <a:gd name="adj" fmla="val 10256"/>
            </a:avLst>
          </a:prstGeom>
          <a:solidFill>
            <a:srgbClr val="FDF2F2"/>
          </a:solidFill>
          <a:ln w="12700">
            <a:solidFill>
              <a:srgbClr val="F5C6C7"/>
            </a:solidFill>
            <a:prstDash val="solid"/>
          </a:ln>
        </p:spPr>
      </p:sp>
      <p:sp>
        <p:nvSpPr>
          <p:cNvPr id="37" name="Text 35"/>
          <p:cNvSpPr txBox="1"/>
          <p:nvPr/>
        </p:nvSpPr>
        <p:spPr>
          <a:xfrm>
            <a:off x="822960" y="5650992"/>
            <a:ext cx="10515600" cy="502920"/>
          </a:xfrm>
          <a:prstGeom prst="rect">
            <a:avLst/>
          </a:prstGeom>
          <a:noFill/>
          <a:ln/>
        </p:spPr>
        <p:txBody>
          <a:bodyPr wrap="square" lIns="0" tIns="0" rIns="0" bIns="0" rtlCol="0" anchor="ctr"/>
          <a:lstStyle/>
          <a:p>
            <a:pPr marL="0" indent="0">
              <a:lnSpc>
                <a:spcPts val="1600"/>
              </a:lnSpc>
              <a:buNone/>
            </a:pPr>
            <a:r>
              <a:rPr lang="en-US" sz="1200" dirty="0">
                <a:solidFill>
                  <a:srgbClr val="8B1F24"/>
                </a:solidFill>
                <a:latin typeface="Calibri" pitchFamily="34" charset="0"/>
                <a:ea typeface="Calibri" pitchFamily="34" charset="-122"/>
                <a:cs typeface="Calibri" pitchFamily="34" charset="-120"/>
              </a:rPr>
              <a:t>Key data challenge: fraud is extremely rare — typically well under 1% of all transactions. This class imbalance means a model that labels everything "genuine" would still appear over 99% accurate, so recall and precision matter far more than accuracy.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9509760" cy="548640"/>
          </a:xfrm>
          <a:prstGeom prst="rect">
            <a:avLst/>
          </a:prstGeom>
          <a:noFill/>
          <a:ln/>
        </p:spPr>
        <p:txBody>
          <a:bodyPr wrap="square" lIns="0" tIns="0" rIns="0" bIns="0" rtlCol="0" anchor="ctr"/>
          <a:lstStyle/>
          <a:p>
            <a:pPr marL="0" indent="0">
              <a:buNone/>
            </a:pPr>
            <a:r>
              <a:rPr lang="en-US" sz="3200" b="1" dirty="0">
                <a:solidFill>
                  <a:srgbClr val="0A2540"/>
                </a:solidFill>
                <a:latin typeface="Cambria" pitchFamily="34" charset="0"/>
                <a:ea typeface="Cambria" pitchFamily="34" charset="-122"/>
                <a:cs typeface="Cambria" pitchFamily="34" charset="-120"/>
              </a:rPr>
              <a:t>The Proposed AI/ML Solution</a:t>
            </a:r>
            <a:endParaRPr lang="en-US" sz="3200" dirty="0"/>
          </a:p>
        </p:txBody>
      </p:sp>
      <p:sp>
        <p:nvSpPr>
          <p:cNvPr id="3" name="Text 1"/>
          <p:cNvSpPr txBox="1"/>
          <p:nvPr/>
        </p:nvSpPr>
        <p:spPr>
          <a:xfrm>
            <a:off x="548640" y="950976"/>
            <a:ext cx="9509760" cy="292608"/>
          </a:xfrm>
          <a:prstGeom prst="rect">
            <a:avLst/>
          </a:prstGeom>
          <a:noFill/>
          <a:ln/>
        </p:spPr>
        <p:txBody>
          <a:bodyPr wrap="square" lIns="0" tIns="0" rIns="0" bIns="0" rtlCol="0" anchor="ctr"/>
          <a:lstStyle/>
          <a:p>
            <a:pPr marL="0" indent="0">
              <a:buNone/>
            </a:pPr>
            <a:r>
              <a:rPr lang="en-US" sz="1300" i="1" dirty="0">
                <a:solidFill>
                  <a:srgbClr val="5A6B7C"/>
                </a:solidFill>
                <a:latin typeface="Calibri" pitchFamily="34" charset="0"/>
                <a:ea typeface="Calibri" pitchFamily="34" charset="-122"/>
                <a:cs typeface="Calibri" pitchFamily="34" charset="-120"/>
              </a:rPr>
              <a:t>Supervised classification, supported by unsupervised anomaly detection</a:t>
            </a:r>
            <a:endParaRPr lang="en-US" sz="1300" dirty="0"/>
          </a:p>
        </p:txBody>
      </p:sp>
      <p:sp>
        <p:nvSpPr>
          <p:cNvPr id="4" name="Shape 2"/>
          <p:cNvSpPr/>
          <p:nvPr/>
        </p:nvSpPr>
        <p:spPr>
          <a:xfrm>
            <a:off x="11109960" y="384048"/>
            <a:ext cx="566928" cy="566928"/>
          </a:xfrm>
          <a:prstGeom prst="ellipse">
            <a:avLst/>
          </a:prstGeom>
          <a:solidFill>
            <a:srgbClr val="F1F5F9"/>
          </a:solidFill>
          <a:ln/>
        </p:spPr>
      </p:sp>
      <p:sp>
        <p:nvSpPr>
          <p:cNvPr id="5" name="Text 3"/>
          <p:cNvSpPr txBox="1"/>
          <p:nvPr/>
        </p:nvSpPr>
        <p:spPr>
          <a:xfrm>
            <a:off x="11109960" y="384048"/>
            <a:ext cx="566928" cy="566928"/>
          </a:xfrm>
          <a:prstGeom prst="rect">
            <a:avLst/>
          </a:prstGeom>
          <a:noFill/>
          <a:ln/>
        </p:spPr>
        <p:txBody>
          <a:bodyPr wrap="square" lIns="0" tIns="0" rIns="0" bIns="0" rtlCol="0" anchor="ctr"/>
          <a:lstStyle/>
          <a:p>
            <a:pPr marL="0" indent="0" algn="ctr">
              <a:buNone/>
            </a:pPr>
            <a:r>
              <a:rPr lang="en-US" sz="1600" b="1" dirty="0">
                <a:solidFill>
                  <a:srgbClr val="004C8F"/>
                </a:solidFill>
                <a:latin typeface="Cambria" pitchFamily="34" charset="0"/>
                <a:ea typeface="Cambria" pitchFamily="34" charset="-122"/>
                <a:cs typeface="Cambria" pitchFamily="34" charset="-120"/>
              </a:rPr>
              <a:t>5</a:t>
            </a:r>
            <a:endParaRPr lang="en-US" sz="1600" dirty="0"/>
          </a:p>
        </p:txBody>
      </p:sp>
      <p:sp>
        <p:nvSpPr>
          <p:cNvPr id="6" name="Shape 4"/>
          <p:cNvSpPr/>
          <p:nvPr/>
        </p:nvSpPr>
        <p:spPr>
          <a:xfrm>
            <a:off x="548640" y="1536192"/>
            <a:ext cx="5486400" cy="3840480"/>
          </a:xfrm>
          <a:prstGeom prst="roundRect">
            <a:avLst>
              <a:gd name="adj" fmla="val 1905"/>
            </a:avLst>
          </a:prstGeom>
          <a:solidFill>
            <a:srgbClr val="F1F5F9"/>
          </a:solidFill>
          <a:ln w="12700">
            <a:solidFill>
              <a:srgbClr val="F1F5F9"/>
            </a:solidFill>
            <a:prstDash val="solid"/>
          </a:ln>
        </p:spPr>
      </p:sp>
      <p:sp>
        <p:nvSpPr>
          <p:cNvPr id="7" name="Text 5"/>
          <p:cNvSpPr txBox="1"/>
          <p:nvPr/>
        </p:nvSpPr>
        <p:spPr>
          <a:xfrm>
            <a:off x="841248" y="1737360"/>
            <a:ext cx="4937760" cy="320040"/>
          </a:xfrm>
          <a:prstGeom prst="rect">
            <a:avLst/>
          </a:prstGeom>
          <a:noFill/>
          <a:ln/>
        </p:spPr>
        <p:txBody>
          <a:bodyPr wrap="square" lIns="0" tIns="0" rIns="0" bIns="0" rtlCol="0" anchor="ctr"/>
          <a:lstStyle/>
          <a:p>
            <a:pPr marL="0" indent="0">
              <a:buNone/>
            </a:pPr>
            <a:r>
              <a:rPr lang="en-US" sz="1500" b="1" dirty="0">
                <a:solidFill>
                  <a:srgbClr val="004C8F"/>
                </a:solidFill>
                <a:latin typeface="Calibri" pitchFamily="34" charset="0"/>
                <a:ea typeface="Calibri" pitchFamily="34" charset="-122"/>
                <a:cs typeface="Calibri" pitchFamily="34" charset="-120"/>
              </a:rPr>
              <a:t>Primary approach: Binary classification</a:t>
            </a:r>
            <a:endParaRPr lang="en-US" sz="1500" dirty="0"/>
          </a:p>
        </p:txBody>
      </p:sp>
      <p:sp>
        <p:nvSpPr>
          <p:cNvPr id="8" name="Text 6"/>
          <p:cNvSpPr txBox="1"/>
          <p:nvPr/>
        </p:nvSpPr>
        <p:spPr>
          <a:xfrm>
            <a:off x="841248" y="2103120"/>
            <a:ext cx="4937760" cy="822960"/>
          </a:xfrm>
          <a:prstGeom prst="rect">
            <a:avLst/>
          </a:prstGeom>
          <a:noFill/>
          <a:ln/>
        </p:spPr>
        <p:txBody>
          <a:bodyPr wrap="square" lIns="0" tIns="0" rIns="0" bIns="0" rtlCol="0" anchor="ctr"/>
          <a:lstStyle/>
          <a:p>
            <a:pPr marL="0" indent="0">
              <a:lnSpc>
                <a:spcPts val="1700"/>
              </a:lnSpc>
              <a:buNone/>
            </a:pPr>
            <a:r>
              <a:rPr lang="en-US" sz="1200" dirty="0">
                <a:solidFill>
                  <a:srgbClr val="3D4C5A"/>
                </a:solidFill>
                <a:latin typeface="Calibri" pitchFamily="34" charset="0"/>
                <a:ea typeface="Calibri" pitchFamily="34" charset="-122"/>
                <a:cs typeface="Calibri" pitchFamily="34" charset="-120"/>
              </a:rPr>
              <a:t>Each transaction is scored as genuine or fraudulent, producing a fraud probability between 0 and 1. The bank sets a threshold above which a transaction is challenged or blocked.</a:t>
            </a:r>
            <a:endParaRPr lang="en-US" sz="1200" dirty="0"/>
          </a:p>
        </p:txBody>
      </p:sp>
      <p:sp>
        <p:nvSpPr>
          <p:cNvPr id="9" name="Text 7"/>
          <p:cNvSpPr txBox="1"/>
          <p:nvPr/>
        </p:nvSpPr>
        <p:spPr>
          <a:xfrm>
            <a:off x="841248" y="2926080"/>
            <a:ext cx="4937760" cy="274320"/>
          </a:xfrm>
          <a:prstGeom prst="rect">
            <a:avLst/>
          </a:prstGeom>
          <a:noFill/>
          <a:ln/>
        </p:spPr>
        <p:txBody>
          <a:bodyPr wrap="square" lIns="0" tIns="0" rIns="0" bIns="0"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Suitable algorithms</a:t>
            </a:r>
            <a:endParaRPr lang="en-US" sz="1300" dirty="0"/>
          </a:p>
        </p:txBody>
      </p:sp>
      <p:sp>
        <p:nvSpPr>
          <p:cNvPr id="10" name="Text 8"/>
          <p:cNvSpPr txBox="1"/>
          <p:nvPr/>
        </p:nvSpPr>
        <p:spPr>
          <a:xfrm>
            <a:off x="841248" y="3246120"/>
            <a:ext cx="4937760" cy="196596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3D4C5A"/>
                </a:solidFill>
                <a:latin typeface="Calibri" pitchFamily="34" charset="0"/>
                <a:ea typeface="Calibri" pitchFamily="34" charset="-122"/>
                <a:cs typeface="Calibri" pitchFamily="34" charset="-120"/>
              </a:rPr>
              <a:t>Logistic regression — interpretable baseline, easy to explain to regulators</a:t>
            </a:r>
            <a:endParaRPr lang="en-US" sz="1150" dirty="0"/>
          </a:p>
          <a:p>
            <a:pPr marL="342900" indent="-342900">
              <a:lnSpc>
                <a:spcPts val="1500"/>
              </a:lnSpc>
              <a:spcAft>
                <a:spcPts val="700"/>
              </a:spcAft>
              <a:buSzPct val="100000"/>
              <a:buChar char="•"/>
            </a:pPr>
            <a:r>
              <a:rPr lang="en-US" sz="1150" dirty="0">
                <a:solidFill>
                  <a:srgbClr val="3D4C5A"/>
                </a:solidFill>
                <a:latin typeface="Calibri" pitchFamily="34" charset="0"/>
                <a:ea typeface="Calibri" pitchFamily="34" charset="-122"/>
                <a:cs typeface="Calibri" pitchFamily="34" charset="-120"/>
              </a:rPr>
              <a:t>Random Forest / XGBoost — handles non-linear patterns and mixed data types well</a:t>
            </a:r>
            <a:endParaRPr lang="en-US" sz="1150" dirty="0"/>
          </a:p>
          <a:p>
            <a:pPr marL="342900" indent="-342900">
              <a:lnSpc>
                <a:spcPts val="1500"/>
              </a:lnSpc>
              <a:spcAft>
                <a:spcPts val="700"/>
              </a:spcAft>
              <a:buSzPct val="100000"/>
              <a:buChar char="•"/>
            </a:pPr>
            <a:r>
              <a:rPr lang="en-US" sz="1150" dirty="0">
                <a:solidFill>
                  <a:srgbClr val="3D4C5A"/>
                </a:solidFill>
                <a:latin typeface="Calibri" pitchFamily="34" charset="0"/>
                <a:ea typeface="Calibri" pitchFamily="34" charset="-122"/>
                <a:cs typeface="Calibri" pitchFamily="34" charset="-120"/>
              </a:rPr>
              <a:t>Isolation Forest / autoencoders — unsupervised, flags never-before-seen fraud patterns without labels</a:t>
            </a:r>
            <a:endParaRPr lang="en-US" sz="1150" dirty="0"/>
          </a:p>
          <a:p>
            <a:pPr marL="342900" indent="-342900">
              <a:lnSpc>
                <a:spcPts val="1500"/>
              </a:lnSpc>
              <a:spcAft>
                <a:spcPts val="700"/>
              </a:spcAft>
              <a:buSzPct val="100000"/>
              <a:buChar char="•"/>
            </a:pPr>
            <a:r>
              <a:rPr lang="en-US" sz="1150" dirty="0">
                <a:solidFill>
                  <a:srgbClr val="3D4C5A"/>
                </a:solidFill>
                <a:latin typeface="Calibri" pitchFamily="34" charset="0"/>
                <a:ea typeface="Calibri" pitchFamily="34" charset="-122"/>
                <a:cs typeface="Calibri" pitchFamily="34" charset="-120"/>
              </a:rPr>
              <a:t>Recurrent neural networks — model the sequence of a customer's transactions over time</a:t>
            </a:r>
            <a:endParaRPr lang="en-US" sz="1150" dirty="0"/>
          </a:p>
        </p:txBody>
      </p:sp>
      <p:sp>
        <p:nvSpPr>
          <p:cNvPr id="11" name="Text 9"/>
          <p:cNvSpPr txBox="1"/>
          <p:nvPr/>
        </p:nvSpPr>
        <p:spPr>
          <a:xfrm>
            <a:off x="6355080" y="1572768"/>
            <a:ext cx="5303520" cy="32004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Why this approach fits the problem</a:t>
            </a:r>
            <a:endParaRPr lang="en-US" sz="1500" dirty="0"/>
          </a:p>
        </p:txBody>
      </p:sp>
      <p:sp>
        <p:nvSpPr>
          <p:cNvPr id="12" name="Shape 10"/>
          <p:cNvSpPr/>
          <p:nvPr/>
        </p:nvSpPr>
        <p:spPr>
          <a:xfrm>
            <a:off x="6355080" y="2057400"/>
            <a:ext cx="256032" cy="256032"/>
          </a:xfrm>
          <a:prstGeom prst="ellipse">
            <a:avLst/>
          </a:prstGeom>
          <a:solidFill>
            <a:srgbClr val="ED232A"/>
          </a:solidFill>
          <a:ln/>
        </p:spPr>
      </p:sp>
      <p:sp>
        <p:nvSpPr>
          <p:cNvPr id="13" name="Text 11"/>
          <p:cNvSpPr txBox="1"/>
          <p:nvPr/>
        </p:nvSpPr>
        <p:spPr>
          <a:xfrm>
            <a:off x="6748272" y="2011680"/>
            <a:ext cx="4892040" cy="274320"/>
          </a:xfrm>
          <a:prstGeom prst="rect">
            <a:avLst/>
          </a:prstGeom>
          <a:noFill/>
          <a:ln/>
        </p:spPr>
        <p:txBody>
          <a:bodyPr wrap="square" lIns="0" tIns="0" rIns="0" bIns="0"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Labelled history already exists</a:t>
            </a:r>
            <a:endParaRPr lang="en-US" sz="1300" dirty="0"/>
          </a:p>
        </p:txBody>
      </p:sp>
      <p:sp>
        <p:nvSpPr>
          <p:cNvPr id="14" name="Text 12"/>
          <p:cNvSpPr txBox="1"/>
          <p:nvPr/>
        </p:nvSpPr>
        <p:spPr>
          <a:xfrm>
            <a:off x="6748272" y="2286000"/>
            <a:ext cx="4892040" cy="548640"/>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The bank holds years of confirmed fraud and dispute records, which is exactly what supervised learning requires.</a:t>
            </a:r>
            <a:endParaRPr lang="en-US" sz="1100" dirty="0"/>
          </a:p>
        </p:txBody>
      </p:sp>
      <p:sp>
        <p:nvSpPr>
          <p:cNvPr id="15" name="Shape 13"/>
          <p:cNvSpPr/>
          <p:nvPr/>
        </p:nvSpPr>
        <p:spPr>
          <a:xfrm>
            <a:off x="6355080" y="2926080"/>
            <a:ext cx="256032" cy="256032"/>
          </a:xfrm>
          <a:prstGeom prst="ellipse">
            <a:avLst/>
          </a:prstGeom>
          <a:solidFill>
            <a:srgbClr val="ED232A"/>
          </a:solidFill>
          <a:ln/>
        </p:spPr>
      </p:sp>
      <p:sp>
        <p:nvSpPr>
          <p:cNvPr id="16" name="Text 14"/>
          <p:cNvSpPr txBox="1"/>
          <p:nvPr/>
        </p:nvSpPr>
        <p:spPr>
          <a:xfrm>
            <a:off x="6748272" y="2880360"/>
            <a:ext cx="4892040" cy="274320"/>
          </a:xfrm>
          <a:prstGeom prst="rect">
            <a:avLst/>
          </a:prstGeom>
          <a:noFill/>
          <a:ln/>
        </p:spPr>
        <p:txBody>
          <a:bodyPr wrap="square" lIns="0" tIns="0" rIns="0" bIns="0"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Decisions must be made in milliseconds</a:t>
            </a:r>
            <a:endParaRPr lang="en-US" sz="1300" dirty="0"/>
          </a:p>
        </p:txBody>
      </p:sp>
      <p:sp>
        <p:nvSpPr>
          <p:cNvPr id="17" name="Text 15"/>
          <p:cNvSpPr txBox="1"/>
          <p:nvPr/>
        </p:nvSpPr>
        <p:spPr>
          <a:xfrm>
            <a:off x="6748272" y="3154680"/>
            <a:ext cx="4892040" cy="548640"/>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A trained model scores a transaction before the payment is authorised — humans cannot review at that speed.</a:t>
            </a:r>
            <a:endParaRPr lang="en-US" sz="1100" dirty="0"/>
          </a:p>
        </p:txBody>
      </p:sp>
      <p:sp>
        <p:nvSpPr>
          <p:cNvPr id="18" name="Shape 16"/>
          <p:cNvSpPr/>
          <p:nvPr/>
        </p:nvSpPr>
        <p:spPr>
          <a:xfrm>
            <a:off x="6355080" y="3794760"/>
            <a:ext cx="256032" cy="256032"/>
          </a:xfrm>
          <a:prstGeom prst="ellipse">
            <a:avLst/>
          </a:prstGeom>
          <a:solidFill>
            <a:srgbClr val="ED232A"/>
          </a:solidFill>
          <a:ln/>
        </p:spPr>
      </p:sp>
      <p:sp>
        <p:nvSpPr>
          <p:cNvPr id="19" name="Text 17"/>
          <p:cNvSpPr txBox="1"/>
          <p:nvPr/>
        </p:nvSpPr>
        <p:spPr>
          <a:xfrm>
            <a:off x="6748272" y="3749040"/>
            <a:ext cx="4892040" cy="274320"/>
          </a:xfrm>
          <a:prstGeom prst="rect">
            <a:avLst/>
          </a:prstGeom>
          <a:noFill/>
          <a:ln/>
        </p:spPr>
        <p:txBody>
          <a:bodyPr wrap="square" lIns="0" tIns="0" rIns="0" bIns="0"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Fraud patterns keep changing</a:t>
            </a:r>
            <a:endParaRPr lang="en-US" sz="1300" dirty="0"/>
          </a:p>
        </p:txBody>
      </p:sp>
      <p:sp>
        <p:nvSpPr>
          <p:cNvPr id="20" name="Text 18"/>
          <p:cNvSpPr txBox="1"/>
          <p:nvPr/>
        </p:nvSpPr>
        <p:spPr>
          <a:xfrm>
            <a:off x="6748272" y="4023360"/>
            <a:ext cx="4892040" cy="548640"/>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Models are retrained on new fraud cases; static rules have to be rewritten manually each time.</a:t>
            </a:r>
            <a:endParaRPr lang="en-US" sz="1100" dirty="0"/>
          </a:p>
        </p:txBody>
      </p:sp>
      <p:sp>
        <p:nvSpPr>
          <p:cNvPr id="21" name="Shape 19"/>
          <p:cNvSpPr/>
          <p:nvPr/>
        </p:nvSpPr>
        <p:spPr>
          <a:xfrm>
            <a:off x="6355080" y="4663440"/>
            <a:ext cx="256032" cy="256032"/>
          </a:xfrm>
          <a:prstGeom prst="ellipse">
            <a:avLst/>
          </a:prstGeom>
          <a:solidFill>
            <a:srgbClr val="ED232A"/>
          </a:solidFill>
          <a:ln/>
        </p:spPr>
      </p:sp>
      <p:sp>
        <p:nvSpPr>
          <p:cNvPr id="22" name="Text 20"/>
          <p:cNvSpPr txBox="1"/>
          <p:nvPr/>
        </p:nvSpPr>
        <p:spPr>
          <a:xfrm>
            <a:off x="6748272" y="4617720"/>
            <a:ext cx="4892040" cy="274320"/>
          </a:xfrm>
          <a:prstGeom prst="rect">
            <a:avLst/>
          </a:prstGeom>
          <a:noFill/>
          <a:ln/>
        </p:spPr>
        <p:txBody>
          <a:bodyPr wrap="square" lIns="0" tIns="0" rIns="0" bIns="0"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A hybrid design covers both cases</a:t>
            </a:r>
            <a:endParaRPr lang="en-US" sz="1300" dirty="0"/>
          </a:p>
        </p:txBody>
      </p:sp>
      <p:sp>
        <p:nvSpPr>
          <p:cNvPr id="23" name="Text 21"/>
          <p:cNvSpPr txBox="1"/>
          <p:nvPr/>
        </p:nvSpPr>
        <p:spPr>
          <a:xfrm>
            <a:off x="6748272" y="4892040"/>
            <a:ext cx="4892040" cy="548640"/>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Supervised models catch known fraud types; anomaly detection catches novel ones the labels have never seen.</a:t>
            </a:r>
            <a:endParaRPr lang="en-US" sz="1100" dirty="0"/>
          </a:p>
        </p:txBody>
      </p:sp>
      <p:sp>
        <p:nvSpPr>
          <p:cNvPr id="24" name="Text 22"/>
          <p:cNvSpPr txBox="1"/>
          <p:nvPr/>
        </p:nvSpPr>
        <p:spPr>
          <a:xfrm>
            <a:off x="548640" y="5577840"/>
            <a:ext cx="11064240" cy="320040"/>
          </a:xfrm>
          <a:prstGeom prst="rect">
            <a:avLst/>
          </a:prstGeom>
          <a:noFill/>
          <a:ln/>
        </p:spPr>
        <p:txBody>
          <a:bodyPr wrap="square" lIns="0" tIns="0" rIns="0" bIns="0" rtlCol="0" anchor="ctr"/>
          <a:lstStyle/>
          <a:p>
            <a:pPr marL="0" indent="0">
              <a:buNone/>
            </a:pPr>
            <a:r>
              <a:rPr lang="en-US" sz="1150" i="1" dirty="0">
                <a:solidFill>
                  <a:srgbClr val="004C8F"/>
                </a:solidFill>
                <a:latin typeface="Calibri" pitchFamily="34" charset="0"/>
                <a:ea typeface="Calibri" pitchFamily="34" charset="-122"/>
                <a:cs typeface="Calibri" pitchFamily="34" charset="-120"/>
              </a:rPr>
              <a:t>HDFC Bank has publicly described AI and ML as an active area for fraud detection, including behavioural analysis and real-time anomaly detection.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9509760" cy="548640"/>
          </a:xfrm>
          <a:prstGeom prst="rect">
            <a:avLst/>
          </a:prstGeom>
          <a:noFill/>
          <a:ln/>
        </p:spPr>
        <p:txBody>
          <a:bodyPr wrap="square" lIns="0" tIns="0" rIns="0" bIns="0" rtlCol="0" anchor="ctr"/>
          <a:lstStyle/>
          <a:p>
            <a:pPr marL="0" indent="0">
              <a:buNone/>
            </a:pPr>
            <a:r>
              <a:rPr lang="en-US" sz="3200" b="1" dirty="0">
                <a:solidFill>
                  <a:srgbClr val="0A2540"/>
                </a:solidFill>
                <a:latin typeface="Cambria" pitchFamily="34" charset="0"/>
                <a:ea typeface="Cambria" pitchFamily="34" charset="-122"/>
                <a:cs typeface="Cambria" pitchFamily="34" charset="-120"/>
              </a:rPr>
              <a:t>How the AI Solution Works</a:t>
            </a:r>
            <a:endParaRPr lang="en-US" sz="3200" dirty="0"/>
          </a:p>
        </p:txBody>
      </p:sp>
      <p:sp>
        <p:nvSpPr>
          <p:cNvPr id="3" name="Text 1"/>
          <p:cNvSpPr txBox="1"/>
          <p:nvPr/>
        </p:nvSpPr>
        <p:spPr>
          <a:xfrm>
            <a:off x="548640" y="950976"/>
            <a:ext cx="9509760" cy="292608"/>
          </a:xfrm>
          <a:prstGeom prst="rect">
            <a:avLst/>
          </a:prstGeom>
          <a:noFill/>
          <a:ln/>
        </p:spPr>
        <p:txBody>
          <a:bodyPr wrap="square" lIns="0" tIns="0" rIns="0" bIns="0" rtlCol="0" anchor="ctr"/>
          <a:lstStyle/>
          <a:p>
            <a:pPr marL="0" indent="0">
              <a:buNone/>
            </a:pPr>
            <a:r>
              <a:rPr lang="en-US" sz="1300" i="1" dirty="0">
                <a:solidFill>
                  <a:srgbClr val="5A6B7C"/>
                </a:solidFill>
                <a:latin typeface="Calibri" pitchFamily="34" charset="0"/>
                <a:ea typeface="Calibri" pitchFamily="34" charset="-122"/>
                <a:cs typeface="Calibri" pitchFamily="34" charset="-120"/>
              </a:rPr>
              <a:t>From transaction to business outcome in under a second</a:t>
            </a:r>
            <a:endParaRPr lang="en-US" sz="1300" dirty="0"/>
          </a:p>
        </p:txBody>
      </p:sp>
      <p:sp>
        <p:nvSpPr>
          <p:cNvPr id="4" name="Shape 2"/>
          <p:cNvSpPr/>
          <p:nvPr/>
        </p:nvSpPr>
        <p:spPr>
          <a:xfrm>
            <a:off x="11109960" y="384048"/>
            <a:ext cx="566928" cy="566928"/>
          </a:xfrm>
          <a:prstGeom prst="ellipse">
            <a:avLst/>
          </a:prstGeom>
          <a:solidFill>
            <a:srgbClr val="F1F5F9"/>
          </a:solidFill>
          <a:ln/>
        </p:spPr>
      </p:sp>
      <p:sp>
        <p:nvSpPr>
          <p:cNvPr id="5" name="Text 3"/>
          <p:cNvSpPr txBox="1"/>
          <p:nvPr/>
        </p:nvSpPr>
        <p:spPr>
          <a:xfrm>
            <a:off x="11109960" y="384048"/>
            <a:ext cx="566928" cy="566928"/>
          </a:xfrm>
          <a:prstGeom prst="rect">
            <a:avLst/>
          </a:prstGeom>
          <a:noFill/>
          <a:ln/>
        </p:spPr>
        <p:txBody>
          <a:bodyPr wrap="square" lIns="0" tIns="0" rIns="0" bIns="0" rtlCol="0" anchor="ctr"/>
          <a:lstStyle/>
          <a:p>
            <a:pPr marL="0" indent="0" algn="ctr">
              <a:buNone/>
            </a:pPr>
            <a:r>
              <a:rPr lang="en-US" sz="1600" b="1" dirty="0">
                <a:solidFill>
                  <a:srgbClr val="004C8F"/>
                </a:solidFill>
                <a:latin typeface="Cambria" pitchFamily="34" charset="0"/>
                <a:ea typeface="Cambria" pitchFamily="34" charset="-122"/>
                <a:cs typeface="Cambria" pitchFamily="34" charset="-120"/>
              </a:rPr>
              <a:t>6</a:t>
            </a:r>
            <a:endParaRPr lang="en-US" sz="1600" dirty="0"/>
          </a:p>
        </p:txBody>
      </p:sp>
      <p:sp>
        <p:nvSpPr>
          <p:cNvPr id="6" name="Shape 4"/>
          <p:cNvSpPr/>
          <p:nvPr/>
        </p:nvSpPr>
        <p:spPr>
          <a:xfrm>
            <a:off x="292608" y="1691640"/>
            <a:ext cx="2057400" cy="2286000"/>
          </a:xfrm>
          <a:prstGeom prst="roundRect">
            <a:avLst>
              <a:gd name="adj" fmla="val 3556"/>
            </a:avLst>
          </a:prstGeom>
          <a:solidFill>
            <a:srgbClr val="FFFFFF"/>
          </a:solidFill>
          <a:ln w="15875">
            <a:solidFill>
              <a:srgbClr val="C9D6E3"/>
            </a:solidFill>
            <a:prstDash val="solid"/>
          </a:ln>
        </p:spPr>
      </p:sp>
      <p:sp>
        <p:nvSpPr>
          <p:cNvPr id="7" name="Shape 5"/>
          <p:cNvSpPr/>
          <p:nvPr/>
        </p:nvSpPr>
        <p:spPr>
          <a:xfrm>
            <a:off x="1120140" y="1463040"/>
            <a:ext cx="402336" cy="402336"/>
          </a:xfrm>
          <a:prstGeom prst="ellipse">
            <a:avLst/>
          </a:prstGeom>
          <a:solidFill>
            <a:srgbClr val="004C8F"/>
          </a:solidFill>
          <a:ln/>
        </p:spPr>
      </p:sp>
      <p:sp>
        <p:nvSpPr>
          <p:cNvPr id="8" name="Text 6"/>
          <p:cNvSpPr txBox="1"/>
          <p:nvPr/>
        </p:nvSpPr>
        <p:spPr>
          <a:xfrm>
            <a:off x="1120140" y="146304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402336" y="2103120"/>
            <a:ext cx="1837944" cy="329184"/>
          </a:xfrm>
          <a:prstGeom prst="rect">
            <a:avLst/>
          </a:prstGeom>
          <a:noFill/>
          <a:ln/>
        </p:spPr>
        <p:txBody>
          <a:bodyPr wrap="square" lIns="0" tIns="0" rIns="0" bIns="0" rtlCol="0" anchor="ctr"/>
          <a:lstStyle/>
          <a:p>
            <a:pPr marL="0" indent="0" algn="ctr">
              <a:buNone/>
            </a:pPr>
            <a:r>
              <a:rPr lang="en-US" sz="1400" b="1" dirty="0">
                <a:solidFill>
                  <a:srgbClr val="0A2540"/>
                </a:solidFill>
                <a:latin typeface="Cambria" pitchFamily="34" charset="0"/>
                <a:ea typeface="Cambria" pitchFamily="34" charset="-122"/>
                <a:cs typeface="Cambria" pitchFamily="34" charset="-120"/>
              </a:rPr>
              <a:t>Business Data</a:t>
            </a:r>
            <a:endParaRPr lang="en-US" sz="1400" dirty="0"/>
          </a:p>
        </p:txBody>
      </p:sp>
      <p:sp>
        <p:nvSpPr>
          <p:cNvPr id="10" name="Text 8"/>
          <p:cNvSpPr txBox="1"/>
          <p:nvPr/>
        </p:nvSpPr>
        <p:spPr>
          <a:xfrm>
            <a:off x="420624" y="2514600"/>
            <a:ext cx="1801368" cy="1325880"/>
          </a:xfrm>
          <a:prstGeom prst="rect">
            <a:avLst/>
          </a:prstGeom>
          <a:noFill/>
          <a:ln/>
        </p:spPr>
        <p:txBody>
          <a:bodyPr wrap="square" lIns="0" tIns="0" rIns="0" bIns="0" rtlCol="0" anchor="ctr"/>
          <a:lstStyle/>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Transaction, customer,</a:t>
            </a:r>
            <a:endParaRPr lang="en-US" sz="1050" dirty="0"/>
          </a:p>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device and history data</a:t>
            </a:r>
            <a:endParaRPr lang="en-US" sz="1050" dirty="0"/>
          </a:p>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streamed in real time</a:t>
            </a:r>
            <a:endParaRPr lang="en-US" sz="1050" dirty="0"/>
          </a:p>
        </p:txBody>
      </p:sp>
      <p:sp>
        <p:nvSpPr>
          <p:cNvPr id="11" name="Shape 9"/>
          <p:cNvSpPr/>
          <p:nvPr/>
        </p:nvSpPr>
        <p:spPr>
          <a:xfrm>
            <a:off x="2404872" y="2697480"/>
            <a:ext cx="219456" cy="274320"/>
          </a:xfrm>
          <a:prstGeom prst="rightArrow">
            <a:avLst/>
          </a:prstGeom>
          <a:solidFill>
            <a:srgbClr val="9FB3C8"/>
          </a:solidFill>
          <a:ln/>
        </p:spPr>
      </p:sp>
      <p:sp>
        <p:nvSpPr>
          <p:cNvPr id="12" name="Shape 10"/>
          <p:cNvSpPr/>
          <p:nvPr/>
        </p:nvSpPr>
        <p:spPr>
          <a:xfrm>
            <a:off x="2679192" y="1691640"/>
            <a:ext cx="2057400" cy="2286000"/>
          </a:xfrm>
          <a:prstGeom prst="roundRect">
            <a:avLst>
              <a:gd name="adj" fmla="val 3556"/>
            </a:avLst>
          </a:prstGeom>
          <a:solidFill>
            <a:srgbClr val="FFFFFF"/>
          </a:solidFill>
          <a:ln w="15875">
            <a:solidFill>
              <a:srgbClr val="C9D6E3"/>
            </a:solidFill>
            <a:prstDash val="solid"/>
          </a:ln>
        </p:spPr>
      </p:sp>
      <p:sp>
        <p:nvSpPr>
          <p:cNvPr id="13" name="Shape 11"/>
          <p:cNvSpPr/>
          <p:nvPr/>
        </p:nvSpPr>
        <p:spPr>
          <a:xfrm>
            <a:off x="3506724" y="1463040"/>
            <a:ext cx="402336" cy="402336"/>
          </a:xfrm>
          <a:prstGeom prst="ellipse">
            <a:avLst/>
          </a:prstGeom>
          <a:solidFill>
            <a:srgbClr val="004C8F"/>
          </a:solidFill>
          <a:ln/>
        </p:spPr>
      </p:sp>
      <p:sp>
        <p:nvSpPr>
          <p:cNvPr id="14" name="Text 12"/>
          <p:cNvSpPr txBox="1"/>
          <p:nvPr/>
        </p:nvSpPr>
        <p:spPr>
          <a:xfrm>
            <a:off x="3506724" y="146304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2788920" y="2103120"/>
            <a:ext cx="1837944" cy="329184"/>
          </a:xfrm>
          <a:prstGeom prst="rect">
            <a:avLst/>
          </a:prstGeom>
          <a:noFill/>
          <a:ln/>
        </p:spPr>
        <p:txBody>
          <a:bodyPr wrap="square" lIns="0" tIns="0" rIns="0" bIns="0" rtlCol="0" anchor="ctr"/>
          <a:lstStyle/>
          <a:p>
            <a:pPr marL="0" indent="0" algn="ctr">
              <a:buNone/>
            </a:pPr>
            <a:r>
              <a:rPr lang="en-US" sz="1400" b="1" dirty="0">
                <a:solidFill>
                  <a:srgbClr val="0A2540"/>
                </a:solidFill>
                <a:latin typeface="Cambria" pitchFamily="34" charset="0"/>
                <a:ea typeface="Cambria" pitchFamily="34" charset="-122"/>
                <a:cs typeface="Cambria" pitchFamily="34" charset="-120"/>
              </a:rPr>
              <a:t>AI/ML System</a:t>
            </a:r>
            <a:endParaRPr lang="en-US" sz="1400" dirty="0"/>
          </a:p>
        </p:txBody>
      </p:sp>
      <p:sp>
        <p:nvSpPr>
          <p:cNvPr id="16" name="Text 14"/>
          <p:cNvSpPr txBox="1"/>
          <p:nvPr/>
        </p:nvSpPr>
        <p:spPr>
          <a:xfrm>
            <a:off x="2807208" y="2514600"/>
            <a:ext cx="1801368" cy="1325880"/>
          </a:xfrm>
          <a:prstGeom prst="rect">
            <a:avLst/>
          </a:prstGeom>
          <a:noFill/>
          <a:ln/>
        </p:spPr>
        <p:txBody>
          <a:bodyPr wrap="square" lIns="0" tIns="0" rIns="0" bIns="0" rtlCol="0" anchor="ctr"/>
          <a:lstStyle/>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Model scores the</a:t>
            </a:r>
            <a:endParaRPr lang="en-US" sz="1050" dirty="0"/>
          </a:p>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transaction and returns a</a:t>
            </a:r>
            <a:endParaRPr lang="en-US" sz="1050" dirty="0"/>
          </a:p>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fraud probability</a:t>
            </a:r>
            <a:endParaRPr lang="en-US" sz="1050" dirty="0"/>
          </a:p>
        </p:txBody>
      </p:sp>
      <p:sp>
        <p:nvSpPr>
          <p:cNvPr id="17" name="Shape 15"/>
          <p:cNvSpPr/>
          <p:nvPr/>
        </p:nvSpPr>
        <p:spPr>
          <a:xfrm>
            <a:off x="4791456" y="2697480"/>
            <a:ext cx="219456" cy="274320"/>
          </a:xfrm>
          <a:prstGeom prst="rightArrow">
            <a:avLst/>
          </a:prstGeom>
          <a:solidFill>
            <a:srgbClr val="9FB3C8"/>
          </a:solidFill>
          <a:ln/>
        </p:spPr>
      </p:sp>
      <p:sp>
        <p:nvSpPr>
          <p:cNvPr id="18" name="Shape 16"/>
          <p:cNvSpPr/>
          <p:nvPr/>
        </p:nvSpPr>
        <p:spPr>
          <a:xfrm>
            <a:off x="5065776" y="1691640"/>
            <a:ext cx="2057400" cy="2286000"/>
          </a:xfrm>
          <a:prstGeom prst="roundRect">
            <a:avLst>
              <a:gd name="adj" fmla="val 3556"/>
            </a:avLst>
          </a:prstGeom>
          <a:solidFill>
            <a:srgbClr val="FFFFFF"/>
          </a:solidFill>
          <a:ln w="15875">
            <a:solidFill>
              <a:srgbClr val="C9D6E3"/>
            </a:solidFill>
            <a:prstDash val="solid"/>
          </a:ln>
        </p:spPr>
      </p:sp>
      <p:sp>
        <p:nvSpPr>
          <p:cNvPr id="19" name="Shape 17"/>
          <p:cNvSpPr/>
          <p:nvPr/>
        </p:nvSpPr>
        <p:spPr>
          <a:xfrm>
            <a:off x="5893308" y="1463040"/>
            <a:ext cx="402336" cy="402336"/>
          </a:xfrm>
          <a:prstGeom prst="ellipse">
            <a:avLst/>
          </a:prstGeom>
          <a:solidFill>
            <a:srgbClr val="004C8F"/>
          </a:solidFill>
          <a:ln/>
        </p:spPr>
      </p:sp>
      <p:sp>
        <p:nvSpPr>
          <p:cNvPr id="20" name="Text 18"/>
          <p:cNvSpPr txBox="1"/>
          <p:nvPr/>
        </p:nvSpPr>
        <p:spPr>
          <a:xfrm>
            <a:off x="5893308" y="146304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5175504" y="2103120"/>
            <a:ext cx="1837944" cy="329184"/>
          </a:xfrm>
          <a:prstGeom prst="rect">
            <a:avLst/>
          </a:prstGeom>
          <a:noFill/>
          <a:ln/>
        </p:spPr>
        <p:txBody>
          <a:bodyPr wrap="square" lIns="0" tIns="0" rIns="0" bIns="0" rtlCol="0" anchor="ctr"/>
          <a:lstStyle/>
          <a:p>
            <a:pPr marL="0" indent="0" algn="ctr">
              <a:buNone/>
            </a:pPr>
            <a:r>
              <a:rPr lang="en-US" sz="1400" b="1" dirty="0">
                <a:solidFill>
                  <a:srgbClr val="0A2540"/>
                </a:solidFill>
                <a:latin typeface="Cambria" pitchFamily="34" charset="0"/>
                <a:ea typeface="Cambria" pitchFamily="34" charset="-122"/>
                <a:cs typeface="Cambria" pitchFamily="34" charset="-120"/>
              </a:rPr>
              <a:t>Prediction</a:t>
            </a:r>
            <a:endParaRPr lang="en-US" sz="1400" dirty="0"/>
          </a:p>
        </p:txBody>
      </p:sp>
      <p:sp>
        <p:nvSpPr>
          <p:cNvPr id="22" name="Text 20"/>
          <p:cNvSpPr txBox="1"/>
          <p:nvPr/>
        </p:nvSpPr>
        <p:spPr>
          <a:xfrm>
            <a:off x="5193792" y="2514600"/>
            <a:ext cx="1801368" cy="1325880"/>
          </a:xfrm>
          <a:prstGeom prst="rect">
            <a:avLst/>
          </a:prstGeom>
          <a:noFill/>
          <a:ln/>
        </p:spPr>
        <p:txBody>
          <a:bodyPr wrap="square" lIns="0" tIns="0" rIns="0" bIns="0" rtlCol="0" anchor="ctr"/>
          <a:lstStyle/>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Low risk → approve</a:t>
            </a:r>
            <a:endParaRPr lang="en-US" sz="1050" dirty="0"/>
          </a:p>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Medium → OTP or</a:t>
            </a:r>
            <a:endParaRPr lang="en-US" sz="1050" dirty="0"/>
          </a:p>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step-up check</a:t>
            </a:r>
            <a:endParaRPr lang="en-US" sz="1050" dirty="0"/>
          </a:p>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High → block</a:t>
            </a:r>
            <a:endParaRPr lang="en-US" sz="1050" dirty="0"/>
          </a:p>
        </p:txBody>
      </p:sp>
      <p:sp>
        <p:nvSpPr>
          <p:cNvPr id="23" name="Shape 21"/>
          <p:cNvSpPr/>
          <p:nvPr/>
        </p:nvSpPr>
        <p:spPr>
          <a:xfrm>
            <a:off x="7178040" y="2697480"/>
            <a:ext cx="219456" cy="274320"/>
          </a:xfrm>
          <a:prstGeom prst="rightArrow">
            <a:avLst/>
          </a:prstGeom>
          <a:solidFill>
            <a:srgbClr val="9FB3C8"/>
          </a:solidFill>
          <a:ln/>
        </p:spPr>
      </p:sp>
      <p:sp>
        <p:nvSpPr>
          <p:cNvPr id="24" name="Shape 22"/>
          <p:cNvSpPr/>
          <p:nvPr/>
        </p:nvSpPr>
        <p:spPr>
          <a:xfrm>
            <a:off x="7452360" y="1691640"/>
            <a:ext cx="2057400" cy="2286000"/>
          </a:xfrm>
          <a:prstGeom prst="roundRect">
            <a:avLst>
              <a:gd name="adj" fmla="val 3556"/>
            </a:avLst>
          </a:prstGeom>
          <a:solidFill>
            <a:srgbClr val="FFFFFF"/>
          </a:solidFill>
          <a:ln w="15875">
            <a:solidFill>
              <a:srgbClr val="C9D6E3"/>
            </a:solidFill>
            <a:prstDash val="solid"/>
          </a:ln>
        </p:spPr>
      </p:sp>
      <p:sp>
        <p:nvSpPr>
          <p:cNvPr id="25" name="Shape 23"/>
          <p:cNvSpPr/>
          <p:nvPr/>
        </p:nvSpPr>
        <p:spPr>
          <a:xfrm>
            <a:off x="8279892" y="1463040"/>
            <a:ext cx="402336" cy="402336"/>
          </a:xfrm>
          <a:prstGeom prst="ellipse">
            <a:avLst/>
          </a:prstGeom>
          <a:solidFill>
            <a:srgbClr val="004C8F"/>
          </a:solidFill>
          <a:ln/>
        </p:spPr>
      </p:sp>
      <p:sp>
        <p:nvSpPr>
          <p:cNvPr id="26" name="Text 24"/>
          <p:cNvSpPr txBox="1"/>
          <p:nvPr/>
        </p:nvSpPr>
        <p:spPr>
          <a:xfrm>
            <a:off x="8279892" y="146304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txBox="1"/>
          <p:nvPr/>
        </p:nvSpPr>
        <p:spPr>
          <a:xfrm>
            <a:off x="7562088" y="2103120"/>
            <a:ext cx="1837944" cy="329184"/>
          </a:xfrm>
          <a:prstGeom prst="rect">
            <a:avLst/>
          </a:prstGeom>
          <a:noFill/>
          <a:ln/>
        </p:spPr>
        <p:txBody>
          <a:bodyPr wrap="square" lIns="0" tIns="0" rIns="0" bIns="0" rtlCol="0" anchor="ctr"/>
          <a:lstStyle/>
          <a:p>
            <a:pPr marL="0" indent="0" algn="ctr">
              <a:buNone/>
            </a:pPr>
            <a:r>
              <a:rPr lang="en-US" sz="1400" b="1" dirty="0">
                <a:solidFill>
                  <a:srgbClr val="0A2540"/>
                </a:solidFill>
                <a:latin typeface="Cambria" pitchFamily="34" charset="0"/>
                <a:ea typeface="Cambria" pitchFamily="34" charset="-122"/>
                <a:cs typeface="Cambria" pitchFamily="34" charset="-120"/>
              </a:rPr>
              <a:t>Business Action</a:t>
            </a:r>
            <a:endParaRPr lang="en-US" sz="1400" dirty="0"/>
          </a:p>
        </p:txBody>
      </p:sp>
      <p:sp>
        <p:nvSpPr>
          <p:cNvPr id="28" name="Text 26"/>
          <p:cNvSpPr txBox="1"/>
          <p:nvPr/>
        </p:nvSpPr>
        <p:spPr>
          <a:xfrm>
            <a:off x="7580376" y="2514600"/>
            <a:ext cx="1801368" cy="1325880"/>
          </a:xfrm>
          <a:prstGeom prst="rect">
            <a:avLst/>
          </a:prstGeom>
          <a:noFill/>
          <a:ln/>
        </p:spPr>
        <p:txBody>
          <a:bodyPr wrap="square" lIns="0" tIns="0" rIns="0" bIns="0" rtlCol="0" anchor="ctr"/>
          <a:lstStyle/>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Alert the customer,</a:t>
            </a:r>
            <a:endParaRPr lang="en-US" sz="1050" dirty="0"/>
          </a:p>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freeze the account,</a:t>
            </a:r>
            <a:endParaRPr lang="en-US" sz="1050" dirty="0"/>
          </a:p>
          <a:p>
            <a:pPr marL="0" indent="0" algn="ctr">
              <a:lnSpc>
                <a:spcPts val="1400"/>
              </a:lnSpc>
              <a:buNone/>
            </a:pPr>
            <a:r>
              <a:rPr lang="en-US" sz="1050" dirty="0">
                <a:solidFill>
                  <a:srgbClr val="5A6B7C"/>
                </a:solidFill>
                <a:latin typeface="Calibri" pitchFamily="34" charset="0"/>
                <a:ea typeface="Calibri" pitchFamily="34" charset="-122"/>
                <a:cs typeface="Calibri" pitchFamily="34" charset="-120"/>
              </a:rPr>
              <a:t>route to investigators</a:t>
            </a:r>
            <a:endParaRPr lang="en-US" sz="1050" dirty="0"/>
          </a:p>
        </p:txBody>
      </p:sp>
      <p:sp>
        <p:nvSpPr>
          <p:cNvPr id="29" name="Shape 27"/>
          <p:cNvSpPr/>
          <p:nvPr/>
        </p:nvSpPr>
        <p:spPr>
          <a:xfrm>
            <a:off x="9564624" y="2697480"/>
            <a:ext cx="219456" cy="274320"/>
          </a:xfrm>
          <a:prstGeom prst="rightArrow">
            <a:avLst/>
          </a:prstGeom>
          <a:solidFill>
            <a:srgbClr val="9FB3C8"/>
          </a:solidFill>
          <a:ln/>
        </p:spPr>
      </p:sp>
      <p:sp>
        <p:nvSpPr>
          <p:cNvPr id="30" name="Shape 28"/>
          <p:cNvSpPr/>
          <p:nvPr/>
        </p:nvSpPr>
        <p:spPr>
          <a:xfrm>
            <a:off x="9838944" y="1691640"/>
            <a:ext cx="2057400" cy="2286000"/>
          </a:xfrm>
          <a:prstGeom prst="roundRect">
            <a:avLst>
              <a:gd name="adj" fmla="val 3556"/>
            </a:avLst>
          </a:prstGeom>
          <a:solidFill>
            <a:srgbClr val="004C8F"/>
          </a:solidFill>
          <a:ln w="15875">
            <a:solidFill>
              <a:srgbClr val="004C8F"/>
            </a:solidFill>
            <a:prstDash val="solid"/>
          </a:ln>
        </p:spPr>
      </p:sp>
      <p:sp>
        <p:nvSpPr>
          <p:cNvPr id="31" name="Shape 29"/>
          <p:cNvSpPr/>
          <p:nvPr/>
        </p:nvSpPr>
        <p:spPr>
          <a:xfrm>
            <a:off x="10666476" y="1463040"/>
            <a:ext cx="402336" cy="402336"/>
          </a:xfrm>
          <a:prstGeom prst="ellipse">
            <a:avLst/>
          </a:prstGeom>
          <a:solidFill>
            <a:srgbClr val="ED232A"/>
          </a:solidFill>
          <a:ln/>
        </p:spPr>
      </p:sp>
      <p:sp>
        <p:nvSpPr>
          <p:cNvPr id="32" name="Text 30"/>
          <p:cNvSpPr txBox="1"/>
          <p:nvPr/>
        </p:nvSpPr>
        <p:spPr>
          <a:xfrm>
            <a:off x="10666476" y="146304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txBox="1"/>
          <p:nvPr/>
        </p:nvSpPr>
        <p:spPr>
          <a:xfrm>
            <a:off x="9948672" y="2103120"/>
            <a:ext cx="183794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Business Outcome</a:t>
            </a:r>
            <a:endParaRPr lang="en-US" sz="1400" dirty="0"/>
          </a:p>
        </p:txBody>
      </p:sp>
      <p:sp>
        <p:nvSpPr>
          <p:cNvPr id="34" name="Text 32"/>
          <p:cNvSpPr txBox="1"/>
          <p:nvPr/>
        </p:nvSpPr>
        <p:spPr>
          <a:xfrm>
            <a:off x="9966960" y="2514600"/>
            <a:ext cx="1801368" cy="1325880"/>
          </a:xfrm>
          <a:prstGeom prst="rect">
            <a:avLst/>
          </a:prstGeom>
          <a:noFill/>
          <a:ln/>
        </p:spPr>
        <p:txBody>
          <a:bodyPr wrap="square" lIns="0" tIns="0" rIns="0" bIns="0" rtlCol="0" anchor="ctr"/>
          <a:lstStyle/>
          <a:p>
            <a:pPr marL="0" indent="0" algn="ctr">
              <a:lnSpc>
                <a:spcPts val="1400"/>
              </a:lnSpc>
              <a:buNone/>
            </a:pPr>
            <a:r>
              <a:rPr lang="en-US" sz="1050" dirty="0">
                <a:solidFill>
                  <a:srgbClr val="D7E5F3"/>
                </a:solidFill>
                <a:latin typeface="Calibri" pitchFamily="34" charset="0"/>
                <a:ea typeface="Calibri" pitchFamily="34" charset="-122"/>
                <a:cs typeface="Calibri" pitchFamily="34" charset="-120"/>
              </a:rPr>
              <a:t>Fraud prevented,</a:t>
            </a:r>
            <a:endParaRPr lang="en-US" sz="1050" dirty="0"/>
          </a:p>
          <a:p>
            <a:pPr marL="0" indent="0" algn="ctr">
              <a:lnSpc>
                <a:spcPts val="1400"/>
              </a:lnSpc>
              <a:buNone/>
            </a:pPr>
            <a:r>
              <a:rPr lang="en-US" sz="1050" dirty="0">
                <a:solidFill>
                  <a:srgbClr val="D7E5F3"/>
                </a:solidFill>
                <a:latin typeface="Calibri" pitchFamily="34" charset="0"/>
                <a:ea typeface="Calibri" pitchFamily="34" charset="-122"/>
                <a:cs typeface="Calibri" pitchFamily="34" charset="-120"/>
              </a:rPr>
              <a:t>genuine payments pass,</a:t>
            </a:r>
            <a:endParaRPr lang="en-US" sz="1050" dirty="0"/>
          </a:p>
          <a:p>
            <a:pPr marL="0" indent="0" algn="ctr">
              <a:lnSpc>
                <a:spcPts val="1400"/>
              </a:lnSpc>
              <a:buNone/>
            </a:pPr>
            <a:r>
              <a:rPr lang="en-US" sz="1050" dirty="0">
                <a:solidFill>
                  <a:srgbClr val="D7E5F3"/>
                </a:solidFill>
                <a:latin typeface="Calibri" pitchFamily="34" charset="0"/>
                <a:ea typeface="Calibri" pitchFamily="34" charset="-122"/>
                <a:cs typeface="Calibri" pitchFamily="34" charset="-120"/>
              </a:rPr>
              <a:t>customer trust retained</a:t>
            </a:r>
            <a:endParaRPr lang="en-US" sz="1050" dirty="0"/>
          </a:p>
        </p:txBody>
      </p:sp>
      <p:sp>
        <p:nvSpPr>
          <p:cNvPr id="35" name="Text 33"/>
          <p:cNvSpPr txBox="1"/>
          <p:nvPr/>
        </p:nvSpPr>
        <p:spPr>
          <a:xfrm>
            <a:off x="548640" y="4251960"/>
            <a:ext cx="5486400" cy="292608"/>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Worked example</a:t>
            </a:r>
            <a:endParaRPr lang="en-US" sz="1500" dirty="0"/>
          </a:p>
        </p:txBody>
      </p:sp>
      <p:sp>
        <p:nvSpPr>
          <p:cNvPr id="36" name="Text 34"/>
          <p:cNvSpPr txBox="1"/>
          <p:nvPr/>
        </p:nvSpPr>
        <p:spPr>
          <a:xfrm>
            <a:off x="548640" y="4590288"/>
            <a:ext cx="5486400" cy="1005840"/>
          </a:xfrm>
          <a:prstGeom prst="rect">
            <a:avLst/>
          </a:prstGeom>
          <a:noFill/>
          <a:ln/>
        </p:spPr>
        <p:txBody>
          <a:bodyPr wrap="square" lIns="0" tIns="0" rIns="0" bIns="0" rtlCol="0" anchor="ctr"/>
          <a:lstStyle/>
          <a:p>
            <a:pPr marL="0" indent="0">
              <a:lnSpc>
                <a:spcPts val="1700"/>
              </a:lnSpc>
              <a:buNone/>
            </a:pPr>
            <a:r>
              <a:rPr lang="en-US" sz="1200" dirty="0">
                <a:solidFill>
                  <a:srgbClr val="3D4C5A"/>
                </a:solidFill>
                <a:latin typeface="Calibri" pitchFamily="34" charset="0"/>
                <a:ea typeface="Calibri" pitchFamily="34" charset="-122"/>
                <a:cs typeface="Calibri" pitchFamily="34" charset="-120"/>
              </a:rPr>
              <a:t>A customer who normally transacts for ₹2,000–₹5,000 in Chandigarh during the day attempts a ₹95,000 transfer at 3:10 a.m. from a new device logged in from another state, to a beneficiary added twelve minutes earlier.</a:t>
            </a:r>
            <a:endParaRPr lang="en-US" sz="1200" dirty="0"/>
          </a:p>
        </p:txBody>
      </p:sp>
      <p:sp>
        <p:nvSpPr>
          <p:cNvPr id="37" name="Text 35"/>
          <p:cNvSpPr txBox="1"/>
          <p:nvPr/>
        </p:nvSpPr>
        <p:spPr>
          <a:xfrm>
            <a:off x="548640" y="5577840"/>
            <a:ext cx="5486400" cy="777240"/>
          </a:xfrm>
          <a:prstGeom prst="rect">
            <a:avLst/>
          </a:prstGeom>
          <a:noFill/>
          <a:ln/>
        </p:spPr>
        <p:txBody>
          <a:bodyPr wrap="square" lIns="0" tIns="0" rIns="0" bIns="0" rtlCol="0" anchor="ctr"/>
          <a:lstStyle/>
          <a:p>
            <a:pPr marL="0" indent="0">
              <a:lnSpc>
                <a:spcPts val="1700"/>
              </a:lnSpc>
              <a:buNone/>
            </a:pPr>
            <a:r>
              <a:rPr lang="en-US" sz="1200" i="1" dirty="0">
                <a:solidFill>
                  <a:srgbClr val="004C8F"/>
                </a:solidFill>
                <a:latin typeface="Calibri" pitchFamily="34" charset="0"/>
                <a:ea typeface="Calibri" pitchFamily="34" charset="-122"/>
                <a:cs typeface="Calibri" pitchFamily="34" charset="-120"/>
              </a:rPr>
              <a:t>The model combines amount deviation, time, device novelty, location and beneficiary age into a single fraud score of 0.93 — the transaction is held and the customer is called before any money moves.</a:t>
            </a:r>
            <a:endParaRPr lang="en-US" sz="1200" dirty="0"/>
          </a:p>
        </p:txBody>
      </p:sp>
      <p:sp>
        <p:nvSpPr>
          <p:cNvPr id="38" name="Shape 36"/>
          <p:cNvSpPr/>
          <p:nvPr/>
        </p:nvSpPr>
        <p:spPr>
          <a:xfrm>
            <a:off x="6355080" y="4251960"/>
            <a:ext cx="5285232" cy="2103120"/>
          </a:xfrm>
          <a:prstGeom prst="roundRect">
            <a:avLst>
              <a:gd name="adj" fmla="val 3478"/>
            </a:avLst>
          </a:prstGeom>
          <a:solidFill>
            <a:srgbClr val="F1F5F9"/>
          </a:solidFill>
          <a:ln w="12700">
            <a:solidFill>
              <a:srgbClr val="F1F5F9"/>
            </a:solidFill>
            <a:prstDash val="solid"/>
          </a:ln>
        </p:spPr>
      </p:sp>
      <p:sp>
        <p:nvSpPr>
          <p:cNvPr id="39" name="Text 37"/>
          <p:cNvSpPr txBox="1"/>
          <p:nvPr/>
        </p:nvSpPr>
        <p:spPr>
          <a:xfrm>
            <a:off x="6629400" y="4434840"/>
            <a:ext cx="4754880" cy="292608"/>
          </a:xfrm>
          <a:prstGeom prst="rect">
            <a:avLst/>
          </a:prstGeom>
          <a:noFill/>
          <a:ln/>
        </p:spPr>
        <p:txBody>
          <a:bodyPr wrap="square" lIns="0" tIns="0" rIns="0" bIns="0"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Human oversight stays in the loop</a:t>
            </a:r>
            <a:endParaRPr lang="en-US" sz="1400" dirty="0"/>
          </a:p>
        </p:txBody>
      </p:sp>
      <p:sp>
        <p:nvSpPr>
          <p:cNvPr id="40" name="Text 38"/>
          <p:cNvSpPr txBox="1"/>
          <p:nvPr/>
        </p:nvSpPr>
        <p:spPr>
          <a:xfrm>
            <a:off x="6629400" y="4773168"/>
            <a:ext cx="4754880" cy="141732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3D4C5A"/>
                </a:solidFill>
                <a:latin typeface="Calibri" pitchFamily="34" charset="0"/>
                <a:ea typeface="Calibri" pitchFamily="34" charset="-122"/>
                <a:cs typeface="Calibri" pitchFamily="34" charset="-120"/>
              </a:rPr>
              <a:t>The model recommends; the fraud operations team decides on high-value and disputed cases.</a:t>
            </a:r>
            <a:endParaRPr lang="en-US" sz="1150" dirty="0"/>
          </a:p>
          <a:p>
            <a:pPr marL="342900" indent="-342900">
              <a:lnSpc>
                <a:spcPts val="1500"/>
              </a:lnSpc>
              <a:spcAft>
                <a:spcPts val="800"/>
              </a:spcAft>
              <a:buSzPct val="100000"/>
              <a:buChar char="•"/>
            </a:pPr>
            <a:r>
              <a:rPr lang="en-US" sz="1150" dirty="0">
                <a:solidFill>
                  <a:srgbClr val="3D4C5A"/>
                </a:solidFill>
                <a:latin typeface="Calibri" pitchFamily="34" charset="0"/>
                <a:ea typeface="Calibri" pitchFamily="34" charset="-122"/>
                <a:cs typeface="Calibri" pitchFamily="34" charset="-120"/>
              </a:rPr>
              <a:t>Every confirmed case is fed back as a new training label, so the system improves with each fraud attempt.</a:t>
            </a:r>
            <a:endParaRPr lang="en-US" sz="1150" dirty="0"/>
          </a:p>
          <a:p>
            <a:pPr marL="342900" indent="-342900">
              <a:lnSpc>
                <a:spcPts val="1500"/>
              </a:lnSpc>
              <a:spcAft>
                <a:spcPts val="800"/>
              </a:spcAft>
              <a:buSzPct val="100000"/>
              <a:buChar char="•"/>
            </a:pPr>
            <a:r>
              <a:rPr lang="en-US" sz="1150" dirty="0">
                <a:solidFill>
                  <a:srgbClr val="3D4C5A"/>
                </a:solidFill>
                <a:latin typeface="Calibri" pitchFamily="34" charset="0"/>
                <a:ea typeface="Calibri" pitchFamily="34" charset="-122"/>
                <a:cs typeface="Calibri" pitchFamily="34" charset="-120"/>
              </a:rPr>
              <a:t>Analysts stop screening millions of alerts and focus on the genuinely complex ones.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9509760" cy="548640"/>
          </a:xfrm>
          <a:prstGeom prst="rect">
            <a:avLst/>
          </a:prstGeom>
          <a:noFill/>
          <a:ln/>
        </p:spPr>
        <p:txBody>
          <a:bodyPr wrap="square" lIns="0" tIns="0" rIns="0" bIns="0" rtlCol="0" anchor="ctr"/>
          <a:lstStyle/>
          <a:p>
            <a:pPr marL="0" indent="0">
              <a:buNone/>
            </a:pPr>
            <a:r>
              <a:rPr lang="en-US" sz="3200" b="1" dirty="0">
                <a:solidFill>
                  <a:srgbClr val="0A2540"/>
                </a:solidFill>
                <a:latin typeface="Cambria" pitchFamily="34" charset="0"/>
                <a:ea typeface="Cambria" pitchFamily="34" charset="-122"/>
                <a:cs typeface="Cambria" pitchFamily="34" charset="-120"/>
              </a:rPr>
              <a:t>Business Impact</a:t>
            </a:r>
            <a:endParaRPr lang="en-US" sz="3200" dirty="0"/>
          </a:p>
        </p:txBody>
      </p:sp>
      <p:sp>
        <p:nvSpPr>
          <p:cNvPr id="3" name="Text 1"/>
          <p:cNvSpPr txBox="1"/>
          <p:nvPr/>
        </p:nvSpPr>
        <p:spPr>
          <a:xfrm>
            <a:off x="548640" y="950976"/>
            <a:ext cx="9509760" cy="292608"/>
          </a:xfrm>
          <a:prstGeom prst="rect">
            <a:avLst/>
          </a:prstGeom>
          <a:noFill/>
          <a:ln/>
        </p:spPr>
        <p:txBody>
          <a:bodyPr wrap="square" lIns="0" tIns="0" rIns="0" bIns="0" rtlCol="0" anchor="ctr"/>
          <a:lstStyle/>
          <a:p>
            <a:pPr marL="0" indent="0">
              <a:buNone/>
            </a:pPr>
            <a:r>
              <a:rPr lang="en-US" sz="1300" i="1" dirty="0">
                <a:solidFill>
                  <a:srgbClr val="5A6B7C"/>
                </a:solidFill>
                <a:latin typeface="Calibri" pitchFamily="34" charset="0"/>
                <a:ea typeface="Calibri" pitchFamily="34" charset="-122"/>
                <a:cs typeface="Calibri" pitchFamily="34" charset="-120"/>
              </a:rPr>
              <a:t>What changes for HDFC Bank if the solution works</a:t>
            </a:r>
            <a:endParaRPr lang="en-US" sz="1300" dirty="0"/>
          </a:p>
        </p:txBody>
      </p:sp>
      <p:sp>
        <p:nvSpPr>
          <p:cNvPr id="4" name="Shape 2"/>
          <p:cNvSpPr/>
          <p:nvPr/>
        </p:nvSpPr>
        <p:spPr>
          <a:xfrm>
            <a:off x="11109960" y="384048"/>
            <a:ext cx="566928" cy="566928"/>
          </a:xfrm>
          <a:prstGeom prst="ellipse">
            <a:avLst/>
          </a:prstGeom>
          <a:solidFill>
            <a:srgbClr val="F1F5F9"/>
          </a:solidFill>
          <a:ln/>
        </p:spPr>
      </p:sp>
      <p:sp>
        <p:nvSpPr>
          <p:cNvPr id="5" name="Text 3"/>
          <p:cNvSpPr txBox="1"/>
          <p:nvPr/>
        </p:nvSpPr>
        <p:spPr>
          <a:xfrm>
            <a:off x="11109960" y="384048"/>
            <a:ext cx="566928" cy="566928"/>
          </a:xfrm>
          <a:prstGeom prst="rect">
            <a:avLst/>
          </a:prstGeom>
          <a:noFill/>
          <a:ln/>
        </p:spPr>
        <p:txBody>
          <a:bodyPr wrap="square" lIns="0" tIns="0" rIns="0" bIns="0" rtlCol="0" anchor="ctr"/>
          <a:lstStyle/>
          <a:p>
            <a:pPr marL="0" indent="0" algn="ctr">
              <a:buNone/>
            </a:pPr>
            <a:r>
              <a:rPr lang="en-US" sz="1600" b="1" dirty="0">
                <a:solidFill>
                  <a:srgbClr val="004C8F"/>
                </a:solidFill>
                <a:latin typeface="Cambria" pitchFamily="34" charset="0"/>
                <a:ea typeface="Cambria" pitchFamily="34" charset="-122"/>
                <a:cs typeface="Cambria" pitchFamily="34" charset="-120"/>
              </a:rPr>
              <a:t>7</a:t>
            </a:r>
            <a:endParaRPr lang="en-US" sz="1600" dirty="0"/>
          </a:p>
        </p:txBody>
      </p:sp>
      <p:sp>
        <p:nvSpPr>
          <p:cNvPr id="6" name="Shape 4"/>
          <p:cNvSpPr/>
          <p:nvPr/>
        </p:nvSpPr>
        <p:spPr>
          <a:xfrm>
            <a:off x="548640" y="1572768"/>
            <a:ext cx="3547872" cy="1298448"/>
          </a:xfrm>
          <a:prstGeom prst="roundRect">
            <a:avLst>
              <a:gd name="adj" fmla="val 5634"/>
            </a:avLst>
          </a:prstGeom>
          <a:solidFill>
            <a:srgbClr val="FFFFFF"/>
          </a:solidFill>
          <a:ln w="12700">
            <a:solidFill>
              <a:srgbClr val="DCE4EC"/>
            </a:solidFill>
            <a:prstDash val="solid"/>
          </a:ln>
        </p:spPr>
      </p:sp>
      <p:sp>
        <p:nvSpPr>
          <p:cNvPr id="7" name="Shape 5"/>
          <p:cNvSpPr/>
          <p:nvPr/>
        </p:nvSpPr>
        <p:spPr>
          <a:xfrm>
            <a:off x="749808" y="1847088"/>
            <a:ext cx="146304" cy="146304"/>
          </a:xfrm>
          <a:prstGeom prst="ellipse">
            <a:avLst/>
          </a:prstGeom>
          <a:solidFill>
            <a:srgbClr val="ED232A"/>
          </a:solidFill>
          <a:ln/>
        </p:spPr>
      </p:sp>
      <p:sp>
        <p:nvSpPr>
          <p:cNvPr id="8" name="Text 6"/>
          <p:cNvSpPr txBox="1"/>
          <p:nvPr/>
        </p:nvSpPr>
        <p:spPr>
          <a:xfrm>
            <a:off x="987552" y="1755648"/>
            <a:ext cx="2971800" cy="292608"/>
          </a:xfrm>
          <a:prstGeom prst="rect">
            <a:avLst/>
          </a:prstGeom>
          <a:noFill/>
          <a:ln/>
        </p:spPr>
        <p:txBody>
          <a:bodyPr wrap="square" lIns="0" tIns="0" rIns="0" bIns="0" rtlCol="0" anchor="ctr"/>
          <a:lstStyle/>
          <a:p>
            <a:pPr marL="0" indent="0">
              <a:buNone/>
            </a:pPr>
            <a:r>
              <a:rPr lang="en-US" sz="1350" b="1" dirty="0">
                <a:solidFill>
                  <a:srgbClr val="0A2540"/>
                </a:solidFill>
                <a:latin typeface="Calibri" pitchFamily="34" charset="0"/>
                <a:ea typeface="Calibri" pitchFamily="34" charset="-122"/>
                <a:cs typeface="Calibri" pitchFamily="34" charset="-120"/>
              </a:rPr>
              <a:t>Reduced fraud losses</a:t>
            </a:r>
            <a:endParaRPr lang="en-US" sz="1350" dirty="0"/>
          </a:p>
        </p:txBody>
      </p:sp>
      <p:sp>
        <p:nvSpPr>
          <p:cNvPr id="9" name="Text 7"/>
          <p:cNvSpPr txBox="1"/>
          <p:nvPr/>
        </p:nvSpPr>
        <p:spPr>
          <a:xfrm>
            <a:off x="749808" y="2121408"/>
            <a:ext cx="3154680" cy="658368"/>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Fewer completed fraudulent transactions means lower write-offs and lower customer compensation.</a:t>
            </a:r>
            <a:endParaRPr lang="en-US" sz="1100" dirty="0"/>
          </a:p>
        </p:txBody>
      </p:sp>
      <p:sp>
        <p:nvSpPr>
          <p:cNvPr id="10" name="Shape 8"/>
          <p:cNvSpPr/>
          <p:nvPr/>
        </p:nvSpPr>
        <p:spPr>
          <a:xfrm>
            <a:off x="4315968" y="1572768"/>
            <a:ext cx="3547872" cy="1298448"/>
          </a:xfrm>
          <a:prstGeom prst="roundRect">
            <a:avLst>
              <a:gd name="adj" fmla="val 5634"/>
            </a:avLst>
          </a:prstGeom>
          <a:solidFill>
            <a:srgbClr val="FFFFFF"/>
          </a:solidFill>
          <a:ln w="12700">
            <a:solidFill>
              <a:srgbClr val="DCE4EC"/>
            </a:solidFill>
            <a:prstDash val="solid"/>
          </a:ln>
        </p:spPr>
      </p:sp>
      <p:sp>
        <p:nvSpPr>
          <p:cNvPr id="11" name="Shape 9"/>
          <p:cNvSpPr/>
          <p:nvPr/>
        </p:nvSpPr>
        <p:spPr>
          <a:xfrm>
            <a:off x="4517136" y="1847088"/>
            <a:ext cx="146304" cy="146304"/>
          </a:xfrm>
          <a:prstGeom prst="ellipse">
            <a:avLst/>
          </a:prstGeom>
          <a:solidFill>
            <a:srgbClr val="ED232A"/>
          </a:solidFill>
          <a:ln/>
        </p:spPr>
      </p:sp>
      <p:sp>
        <p:nvSpPr>
          <p:cNvPr id="12" name="Text 10"/>
          <p:cNvSpPr txBox="1"/>
          <p:nvPr/>
        </p:nvSpPr>
        <p:spPr>
          <a:xfrm>
            <a:off x="4754880" y="1755648"/>
            <a:ext cx="2971800" cy="292608"/>
          </a:xfrm>
          <a:prstGeom prst="rect">
            <a:avLst/>
          </a:prstGeom>
          <a:noFill/>
          <a:ln/>
        </p:spPr>
        <p:txBody>
          <a:bodyPr wrap="square" lIns="0" tIns="0" rIns="0" bIns="0" rtlCol="0" anchor="ctr"/>
          <a:lstStyle/>
          <a:p>
            <a:pPr marL="0" indent="0">
              <a:buNone/>
            </a:pPr>
            <a:r>
              <a:rPr lang="en-US" sz="1350" b="1" dirty="0">
                <a:solidFill>
                  <a:srgbClr val="0A2540"/>
                </a:solidFill>
                <a:latin typeface="Calibri" pitchFamily="34" charset="0"/>
                <a:ea typeface="Calibri" pitchFamily="34" charset="-122"/>
                <a:cs typeface="Calibri" pitchFamily="34" charset="-120"/>
              </a:rPr>
              <a:t>Fewer false declines</a:t>
            </a:r>
            <a:endParaRPr lang="en-US" sz="1350" dirty="0"/>
          </a:p>
        </p:txBody>
      </p:sp>
      <p:sp>
        <p:nvSpPr>
          <p:cNvPr id="13" name="Text 11"/>
          <p:cNvSpPr txBox="1"/>
          <p:nvPr/>
        </p:nvSpPr>
        <p:spPr>
          <a:xfrm>
            <a:off x="4517136" y="2121408"/>
            <a:ext cx="3154680" cy="658368"/>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Behaviour-aware scoring lets genuine payments through instead of blocking them on rigid rules.</a:t>
            </a:r>
            <a:endParaRPr lang="en-US" sz="1100" dirty="0"/>
          </a:p>
        </p:txBody>
      </p:sp>
      <p:sp>
        <p:nvSpPr>
          <p:cNvPr id="14" name="Shape 12"/>
          <p:cNvSpPr/>
          <p:nvPr/>
        </p:nvSpPr>
        <p:spPr>
          <a:xfrm>
            <a:off x="8083296" y="1572768"/>
            <a:ext cx="3547872" cy="1298448"/>
          </a:xfrm>
          <a:prstGeom prst="roundRect">
            <a:avLst>
              <a:gd name="adj" fmla="val 5634"/>
            </a:avLst>
          </a:prstGeom>
          <a:solidFill>
            <a:srgbClr val="FFFFFF"/>
          </a:solidFill>
          <a:ln w="12700">
            <a:solidFill>
              <a:srgbClr val="DCE4EC"/>
            </a:solidFill>
            <a:prstDash val="solid"/>
          </a:ln>
        </p:spPr>
      </p:sp>
      <p:sp>
        <p:nvSpPr>
          <p:cNvPr id="15" name="Shape 13"/>
          <p:cNvSpPr/>
          <p:nvPr/>
        </p:nvSpPr>
        <p:spPr>
          <a:xfrm>
            <a:off x="8284464" y="1847088"/>
            <a:ext cx="146304" cy="146304"/>
          </a:xfrm>
          <a:prstGeom prst="ellipse">
            <a:avLst/>
          </a:prstGeom>
          <a:solidFill>
            <a:srgbClr val="ED232A"/>
          </a:solidFill>
          <a:ln/>
        </p:spPr>
      </p:sp>
      <p:sp>
        <p:nvSpPr>
          <p:cNvPr id="16" name="Text 14"/>
          <p:cNvSpPr txBox="1"/>
          <p:nvPr/>
        </p:nvSpPr>
        <p:spPr>
          <a:xfrm>
            <a:off x="8522208" y="1755648"/>
            <a:ext cx="2971800" cy="292608"/>
          </a:xfrm>
          <a:prstGeom prst="rect">
            <a:avLst/>
          </a:prstGeom>
          <a:noFill/>
          <a:ln/>
        </p:spPr>
        <p:txBody>
          <a:bodyPr wrap="square" lIns="0" tIns="0" rIns="0" bIns="0" rtlCol="0" anchor="ctr"/>
          <a:lstStyle/>
          <a:p>
            <a:pPr marL="0" indent="0">
              <a:buNone/>
            </a:pPr>
            <a:r>
              <a:rPr lang="en-US" sz="1350" b="1" dirty="0">
                <a:solidFill>
                  <a:srgbClr val="0A2540"/>
                </a:solidFill>
                <a:latin typeface="Calibri" pitchFamily="34" charset="0"/>
                <a:ea typeface="Calibri" pitchFamily="34" charset="-122"/>
                <a:cs typeface="Calibri" pitchFamily="34" charset="-120"/>
              </a:rPr>
              <a:t>Lower operating cost</a:t>
            </a:r>
            <a:endParaRPr lang="en-US" sz="1350" dirty="0"/>
          </a:p>
        </p:txBody>
      </p:sp>
      <p:sp>
        <p:nvSpPr>
          <p:cNvPr id="17" name="Text 15"/>
          <p:cNvSpPr txBox="1"/>
          <p:nvPr/>
        </p:nvSpPr>
        <p:spPr>
          <a:xfrm>
            <a:off x="8284464" y="2121408"/>
            <a:ext cx="3154680" cy="658368"/>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Investigators stop triaging noise; alert volumes fall and each analyst handles higher-value work.</a:t>
            </a:r>
            <a:endParaRPr lang="en-US" sz="1100" dirty="0"/>
          </a:p>
        </p:txBody>
      </p:sp>
      <p:sp>
        <p:nvSpPr>
          <p:cNvPr id="18" name="Shape 16"/>
          <p:cNvSpPr/>
          <p:nvPr/>
        </p:nvSpPr>
        <p:spPr>
          <a:xfrm>
            <a:off x="548640" y="3108960"/>
            <a:ext cx="3547872" cy="1298448"/>
          </a:xfrm>
          <a:prstGeom prst="roundRect">
            <a:avLst>
              <a:gd name="adj" fmla="val 5634"/>
            </a:avLst>
          </a:prstGeom>
          <a:solidFill>
            <a:srgbClr val="FFFFFF"/>
          </a:solidFill>
          <a:ln w="12700">
            <a:solidFill>
              <a:srgbClr val="DCE4EC"/>
            </a:solidFill>
            <a:prstDash val="solid"/>
          </a:ln>
        </p:spPr>
      </p:sp>
      <p:sp>
        <p:nvSpPr>
          <p:cNvPr id="19" name="Shape 17"/>
          <p:cNvSpPr/>
          <p:nvPr/>
        </p:nvSpPr>
        <p:spPr>
          <a:xfrm>
            <a:off x="749808" y="3383280"/>
            <a:ext cx="146304" cy="146304"/>
          </a:xfrm>
          <a:prstGeom prst="ellipse">
            <a:avLst/>
          </a:prstGeom>
          <a:solidFill>
            <a:srgbClr val="ED232A"/>
          </a:solidFill>
          <a:ln/>
        </p:spPr>
      </p:sp>
      <p:sp>
        <p:nvSpPr>
          <p:cNvPr id="20" name="Text 18"/>
          <p:cNvSpPr txBox="1"/>
          <p:nvPr/>
        </p:nvSpPr>
        <p:spPr>
          <a:xfrm>
            <a:off x="987552" y="3291840"/>
            <a:ext cx="2971800" cy="292608"/>
          </a:xfrm>
          <a:prstGeom prst="rect">
            <a:avLst/>
          </a:prstGeom>
          <a:noFill/>
          <a:ln/>
        </p:spPr>
        <p:txBody>
          <a:bodyPr wrap="square" lIns="0" tIns="0" rIns="0" bIns="0" rtlCol="0" anchor="ctr"/>
          <a:lstStyle/>
          <a:p>
            <a:pPr marL="0" indent="0">
              <a:buNone/>
            </a:pPr>
            <a:r>
              <a:rPr lang="en-US" sz="1350" b="1" dirty="0">
                <a:solidFill>
                  <a:srgbClr val="0A2540"/>
                </a:solidFill>
                <a:latin typeface="Calibri" pitchFamily="34" charset="0"/>
                <a:ea typeface="Calibri" pitchFamily="34" charset="-122"/>
                <a:cs typeface="Calibri" pitchFamily="34" charset="-120"/>
              </a:rPr>
              <a:t>Faster detection</a:t>
            </a:r>
            <a:endParaRPr lang="en-US" sz="1350" dirty="0"/>
          </a:p>
        </p:txBody>
      </p:sp>
      <p:sp>
        <p:nvSpPr>
          <p:cNvPr id="21" name="Text 19"/>
          <p:cNvSpPr txBox="1"/>
          <p:nvPr/>
        </p:nvSpPr>
        <p:spPr>
          <a:xfrm>
            <a:off x="749808" y="3657600"/>
            <a:ext cx="3154680" cy="658368"/>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Scoring happens before authorisation, closing the lag between fraud occurring and being caught.</a:t>
            </a:r>
            <a:endParaRPr lang="en-US" sz="1100" dirty="0"/>
          </a:p>
        </p:txBody>
      </p:sp>
      <p:sp>
        <p:nvSpPr>
          <p:cNvPr id="22" name="Shape 20"/>
          <p:cNvSpPr/>
          <p:nvPr/>
        </p:nvSpPr>
        <p:spPr>
          <a:xfrm>
            <a:off x="4315968" y="3108960"/>
            <a:ext cx="3547872" cy="1298448"/>
          </a:xfrm>
          <a:prstGeom prst="roundRect">
            <a:avLst>
              <a:gd name="adj" fmla="val 5634"/>
            </a:avLst>
          </a:prstGeom>
          <a:solidFill>
            <a:srgbClr val="FFFFFF"/>
          </a:solidFill>
          <a:ln w="12700">
            <a:solidFill>
              <a:srgbClr val="DCE4EC"/>
            </a:solidFill>
            <a:prstDash val="solid"/>
          </a:ln>
        </p:spPr>
      </p:sp>
      <p:sp>
        <p:nvSpPr>
          <p:cNvPr id="23" name="Shape 21"/>
          <p:cNvSpPr/>
          <p:nvPr/>
        </p:nvSpPr>
        <p:spPr>
          <a:xfrm>
            <a:off x="4517136" y="3383280"/>
            <a:ext cx="146304" cy="146304"/>
          </a:xfrm>
          <a:prstGeom prst="ellipse">
            <a:avLst/>
          </a:prstGeom>
          <a:solidFill>
            <a:srgbClr val="ED232A"/>
          </a:solidFill>
          <a:ln/>
        </p:spPr>
      </p:sp>
      <p:sp>
        <p:nvSpPr>
          <p:cNvPr id="24" name="Text 22"/>
          <p:cNvSpPr txBox="1"/>
          <p:nvPr/>
        </p:nvSpPr>
        <p:spPr>
          <a:xfrm>
            <a:off x="4754880" y="3291840"/>
            <a:ext cx="2971800" cy="292608"/>
          </a:xfrm>
          <a:prstGeom prst="rect">
            <a:avLst/>
          </a:prstGeom>
          <a:noFill/>
          <a:ln/>
        </p:spPr>
        <p:txBody>
          <a:bodyPr wrap="square" lIns="0" tIns="0" rIns="0" bIns="0" rtlCol="0" anchor="ctr"/>
          <a:lstStyle/>
          <a:p>
            <a:pPr marL="0" indent="0">
              <a:buNone/>
            </a:pPr>
            <a:r>
              <a:rPr lang="en-US" sz="1350" b="1" dirty="0">
                <a:solidFill>
                  <a:srgbClr val="0A2540"/>
                </a:solidFill>
                <a:latin typeface="Calibri" pitchFamily="34" charset="0"/>
                <a:ea typeface="Calibri" pitchFamily="34" charset="-122"/>
                <a:cs typeface="Calibri" pitchFamily="34" charset="-120"/>
              </a:rPr>
              <a:t>Stronger customer trust</a:t>
            </a:r>
            <a:endParaRPr lang="en-US" sz="1350" dirty="0"/>
          </a:p>
        </p:txBody>
      </p:sp>
      <p:sp>
        <p:nvSpPr>
          <p:cNvPr id="25" name="Text 23"/>
          <p:cNvSpPr txBox="1"/>
          <p:nvPr/>
        </p:nvSpPr>
        <p:spPr>
          <a:xfrm>
            <a:off x="4517136" y="3657600"/>
            <a:ext cx="3154680" cy="658368"/>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Customers who are protected — and not needlessly blocked — stay with the bank longer.</a:t>
            </a:r>
            <a:endParaRPr lang="en-US" sz="1100" dirty="0"/>
          </a:p>
        </p:txBody>
      </p:sp>
      <p:sp>
        <p:nvSpPr>
          <p:cNvPr id="26" name="Shape 24"/>
          <p:cNvSpPr/>
          <p:nvPr/>
        </p:nvSpPr>
        <p:spPr>
          <a:xfrm>
            <a:off x="8083296" y="3108960"/>
            <a:ext cx="3547872" cy="1298448"/>
          </a:xfrm>
          <a:prstGeom prst="roundRect">
            <a:avLst>
              <a:gd name="adj" fmla="val 5634"/>
            </a:avLst>
          </a:prstGeom>
          <a:solidFill>
            <a:srgbClr val="FFFFFF"/>
          </a:solidFill>
          <a:ln w="12700">
            <a:solidFill>
              <a:srgbClr val="DCE4EC"/>
            </a:solidFill>
            <a:prstDash val="solid"/>
          </a:ln>
        </p:spPr>
      </p:sp>
      <p:sp>
        <p:nvSpPr>
          <p:cNvPr id="27" name="Shape 25"/>
          <p:cNvSpPr/>
          <p:nvPr/>
        </p:nvSpPr>
        <p:spPr>
          <a:xfrm>
            <a:off x="8284464" y="3383280"/>
            <a:ext cx="146304" cy="146304"/>
          </a:xfrm>
          <a:prstGeom prst="ellipse">
            <a:avLst/>
          </a:prstGeom>
          <a:solidFill>
            <a:srgbClr val="ED232A"/>
          </a:solidFill>
          <a:ln/>
        </p:spPr>
      </p:sp>
      <p:sp>
        <p:nvSpPr>
          <p:cNvPr id="28" name="Text 26"/>
          <p:cNvSpPr txBox="1"/>
          <p:nvPr/>
        </p:nvSpPr>
        <p:spPr>
          <a:xfrm>
            <a:off x="8522208" y="3291840"/>
            <a:ext cx="2971800" cy="292608"/>
          </a:xfrm>
          <a:prstGeom prst="rect">
            <a:avLst/>
          </a:prstGeom>
          <a:noFill/>
          <a:ln/>
        </p:spPr>
        <p:txBody>
          <a:bodyPr wrap="square" lIns="0" tIns="0" rIns="0" bIns="0" rtlCol="0" anchor="ctr"/>
          <a:lstStyle/>
          <a:p>
            <a:pPr marL="0" indent="0">
              <a:buNone/>
            </a:pPr>
            <a:r>
              <a:rPr lang="en-US" sz="1350" b="1" dirty="0">
                <a:solidFill>
                  <a:srgbClr val="0A2540"/>
                </a:solidFill>
                <a:latin typeface="Calibri" pitchFamily="34" charset="0"/>
                <a:ea typeface="Calibri" pitchFamily="34" charset="-122"/>
                <a:cs typeface="Calibri" pitchFamily="34" charset="-120"/>
              </a:rPr>
              <a:t>Regulatory confidence</a:t>
            </a:r>
            <a:endParaRPr lang="en-US" sz="1350" dirty="0"/>
          </a:p>
        </p:txBody>
      </p:sp>
      <p:sp>
        <p:nvSpPr>
          <p:cNvPr id="29" name="Text 27"/>
          <p:cNvSpPr txBox="1"/>
          <p:nvPr/>
        </p:nvSpPr>
        <p:spPr>
          <a:xfrm>
            <a:off x="8284464" y="3657600"/>
            <a:ext cx="3154680" cy="658368"/>
          </a:xfrm>
          <a:prstGeom prst="rect">
            <a:avLst/>
          </a:prstGeom>
          <a:noFill/>
          <a:ln/>
        </p:spPr>
        <p:txBody>
          <a:bodyPr wrap="square" lIns="0" tIns="0" rIns="0" bIns="0" rtlCol="0" anchor="ctr"/>
          <a:lstStyle/>
          <a:p>
            <a:pPr marL="0" indent="0">
              <a:lnSpc>
                <a:spcPts val="1500"/>
              </a:lnSpc>
              <a:buNone/>
            </a:pPr>
            <a:r>
              <a:rPr lang="en-US" sz="1100" dirty="0">
                <a:solidFill>
                  <a:srgbClr val="5A6B7C"/>
                </a:solidFill>
                <a:latin typeface="Calibri" pitchFamily="34" charset="0"/>
                <a:ea typeface="Calibri" pitchFamily="34" charset="-122"/>
                <a:cs typeface="Calibri" pitchFamily="34" charset="-120"/>
              </a:rPr>
              <a:t>Auditable, monitored fraud controls support RBI reporting and supervisory expectations.</a:t>
            </a:r>
            <a:endParaRPr lang="en-US" sz="1100" dirty="0"/>
          </a:p>
        </p:txBody>
      </p:sp>
      <p:sp>
        <p:nvSpPr>
          <p:cNvPr id="30" name="Shape 28"/>
          <p:cNvSpPr/>
          <p:nvPr/>
        </p:nvSpPr>
        <p:spPr>
          <a:xfrm>
            <a:off x="548640" y="4754880"/>
            <a:ext cx="11091672" cy="1463040"/>
          </a:xfrm>
          <a:prstGeom prst="roundRect">
            <a:avLst>
              <a:gd name="adj" fmla="val 5000"/>
            </a:avLst>
          </a:prstGeom>
          <a:solidFill>
            <a:srgbClr val="0A2540"/>
          </a:solidFill>
          <a:ln w="12700">
            <a:solidFill>
              <a:srgbClr val="0A2540"/>
            </a:solidFill>
            <a:prstDash val="solid"/>
          </a:ln>
        </p:spPr>
      </p:sp>
      <p:sp>
        <p:nvSpPr>
          <p:cNvPr id="31" name="Text 29"/>
          <p:cNvSpPr txBox="1"/>
          <p:nvPr/>
        </p:nvSpPr>
        <p:spPr>
          <a:xfrm>
            <a:off x="868680" y="4937760"/>
            <a:ext cx="3657600" cy="274320"/>
          </a:xfrm>
          <a:prstGeom prst="rect">
            <a:avLst/>
          </a:prstGeom>
          <a:noFill/>
          <a:ln/>
        </p:spPr>
        <p:txBody>
          <a:bodyPr wrap="square" lIns="0" tIns="0" rIns="0" bIns="0" rtlCol="0" anchor="ctr"/>
          <a:lstStyle/>
          <a:p>
            <a:pPr marL="0" indent="0">
              <a:buNone/>
            </a:pPr>
            <a:r>
              <a:rPr lang="en-US" sz="1300" b="1" dirty="0">
                <a:solidFill>
                  <a:srgbClr val="8FB3D9"/>
                </a:solidFill>
                <a:latin typeface="Calibri" pitchFamily="34" charset="0"/>
                <a:ea typeface="Calibri" pitchFamily="34" charset="-122"/>
                <a:cs typeface="Calibri" pitchFamily="34" charset="-120"/>
              </a:rPr>
              <a:t>Where the value sits</a:t>
            </a:r>
            <a:endParaRPr lang="en-US" sz="1300" dirty="0"/>
          </a:p>
        </p:txBody>
      </p:sp>
      <p:sp>
        <p:nvSpPr>
          <p:cNvPr id="32" name="Text 30"/>
          <p:cNvSpPr txBox="1"/>
          <p:nvPr/>
        </p:nvSpPr>
        <p:spPr>
          <a:xfrm>
            <a:off x="868680" y="5257800"/>
            <a:ext cx="10424160" cy="777240"/>
          </a:xfrm>
          <a:prstGeom prst="rect">
            <a:avLst/>
          </a:prstGeom>
          <a:noFill/>
          <a:ln/>
        </p:spPr>
        <p:txBody>
          <a:bodyPr wrap="square" lIns="0" tIns="0" rIns="0" bIns="0" rtlCol="0" anchor="ctr"/>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Fraud detection is a cost-avoidance investment, not a revenue line. Its return is measured as fraud value prevented, plus the revenue retained from genuine transactions that are no longer wrongly declined, minus the cost of running and monitoring the model.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9509760" cy="548640"/>
          </a:xfrm>
          <a:prstGeom prst="rect">
            <a:avLst/>
          </a:prstGeom>
          <a:noFill/>
          <a:ln/>
        </p:spPr>
        <p:txBody>
          <a:bodyPr wrap="square" lIns="0" tIns="0" rIns="0" bIns="0" rtlCol="0" anchor="ctr"/>
          <a:lstStyle/>
          <a:p>
            <a:pPr marL="0" indent="0">
              <a:buNone/>
            </a:pPr>
            <a:r>
              <a:rPr lang="en-US" sz="3200" b="1" dirty="0">
                <a:solidFill>
                  <a:srgbClr val="0A2540"/>
                </a:solidFill>
                <a:latin typeface="Cambria" pitchFamily="34" charset="0"/>
                <a:ea typeface="Cambria" pitchFamily="34" charset="-122"/>
                <a:cs typeface="Cambria" pitchFamily="34" charset="-120"/>
              </a:rPr>
              <a:t>Risks, Ethics &amp; Responsible AI</a:t>
            </a:r>
            <a:endParaRPr lang="en-US" sz="3200" dirty="0"/>
          </a:p>
        </p:txBody>
      </p:sp>
      <p:sp>
        <p:nvSpPr>
          <p:cNvPr id="3" name="Text 1"/>
          <p:cNvSpPr txBox="1"/>
          <p:nvPr/>
        </p:nvSpPr>
        <p:spPr>
          <a:xfrm>
            <a:off x="548640" y="950976"/>
            <a:ext cx="9509760" cy="292608"/>
          </a:xfrm>
          <a:prstGeom prst="rect">
            <a:avLst/>
          </a:prstGeom>
          <a:noFill/>
          <a:ln/>
        </p:spPr>
        <p:txBody>
          <a:bodyPr wrap="square" lIns="0" tIns="0" rIns="0" bIns="0" rtlCol="0" anchor="ctr"/>
          <a:lstStyle/>
          <a:p>
            <a:pPr marL="0" indent="0">
              <a:buNone/>
            </a:pPr>
            <a:r>
              <a:rPr lang="en-US" sz="1300" i="1" dirty="0">
                <a:solidFill>
                  <a:srgbClr val="5A6B7C"/>
                </a:solidFill>
                <a:latin typeface="Calibri" pitchFamily="34" charset="0"/>
                <a:ea typeface="Calibri" pitchFamily="34" charset="-122"/>
                <a:cs typeface="Calibri" pitchFamily="34" charset="-120"/>
              </a:rPr>
              <a:t>What can go wrong, and how the bank should control it</a:t>
            </a:r>
            <a:endParaRPr lang="en-US" sz="1300" dirty="0"/>
          </a:p>
        </p:txBody>
      </p:sp>
      <p:sp>
        <p:nvSpPr>
          <p:cNvPr id="4" name="Shape 2"/>
          <p:cNvSpPr/>
          <p:nvPr/>
        </p:nvSpPr>
        <p:spPr>
          <a:xfrm>
            <a:off x="11109960" y="384048"/>
            <a:ext cx="566928" cy="566928"/>
          </a:xfrm>
          <a:prstGeom prst="ellipse">
            <a:avLst/>
          </a:prstGeom>
          <a:solidFill>
            <a:srgbClr val="F1F5F9"/>
          </a:solidFill>
          <a:ln/>
        </p:spPr>
      </p:sp>
      <p:sp>
        <p:nvSpPr>
          <p:cNvPr id="5" name="Text 3"/>
          <p:cNvSpPr txBox="1"/>
          <p:nvPr/>
        </p:nvSpPr>
        <p:spPr>
          <a:xfrm>
            <a:off x="11109960" y="384048"/>
            <a:ext cx="566928" cy="566928"/>
          </a:xfrm>
          <a:prstGeom prst="rect">
            <a:avLst/>
          </a:prstGeom>
          <a:noFill/>
          <a:ln/>
        </p:spPr>
        <p:txBody>
          <a:bodyPr wrap="square" lIns="0" tIns="0" rIns="0" bIns="0" rtlCol="0" anchor="ctr"/>
          <a:lstStyle/>
          <a:p>
            <a:pPr marL="0" indent="0" algn="ctr">
              <a:buNone/>
            </a:pPr>
            <a:r>
              <a:rPr lang="en-US" sz="1600" b="1" dirty="0">
                <a:solidFill>
                  <a:srgbClr val="004C8F"/>
                </a:solidFill>
                <a:latin typeface="Cambria" pitchFamily="34" charset="0"/>
                <a:ea typeface="Cambria" pitchFamily="34" charset="-122"/>
                <a:cs typeface="Cambria" pitchFamily="34" charset="-120"/>
              </a:rPr>
              <a:t>8</a:t>
            </a:r>
            <a:endParaRPr lang="en-US" sz="1600" dirty="0"/>
          </a:p>
        </p:txBody>
      </p:sp>
      <p:sp>
        <p:nvSpPr>
          <p:cNvPr id="6" name="Text 4"/>
          <p:cNvSpPr txBox="1"/>
          <p:nvPr/>
        </p:nvSpPr>
        <p:spPr>
          <a:xfrm>
            <a:off x="685800" y="1481328"/>
            <a:ext cx="4937760" cy="274320"/>
          </a:xfrm>
          <a:prstGeom prst="rect">
            <a:avLst/>
          </a:prstGeom>
          <a:noFill/>
          <a:ln/>
        </p:spPr>
        <p:txBody>
          <a:bodyPr wrap="square" lIns="0" tIns="0" rIns="0" bIns="0" rtlCol="0" anchor="ctr"/>
          <a:lstStyle/>
          <a:p>
            <a:pPr marL="0" indent="0">
              <a:buNone/>
            </a:pPr>
            <a:r>
              <a:rPr lang="en-US" sz="1200" b="1" kern="0" spc="200" dirty="0">
                <a:solidFill>
                  <a:srgbClr val="5A6B7C"/>
                </a:solidFill>
                <a:latin typeface="Calibri" pitchFamily="34" charset="0"/>
                <a:ea typeface="Calibri" pitchFamily="34" charset="-122"/>
                <a:cs typeface="Calibri" pitchFamily="34" charset="-120"/>
              </a:rPr>
              <a:t>Risk</a:t>
            </a:r>
            <a:endParaRPr lang="en-US" sz="1200" dirty="0"/>
          </a:p>
        </p:txBody>
      </p:sp>
      <p:sp>
        <p:nvSpPr>
          <p:cNvPr id="7" name="Text 5"/>
          <p:cNvSpPr txBox="1"/>
          <p:nvPr/>
        </p:nvSpPr>
        <p:spPr>
          <a:xfrm>
            <a:off x="6492240" y="1481328"/>
            <a:ext cx="4937760" cy="274320"/>
          </a:xfrm>
          <a:prstGeom prst="rect">
            <a:avLst/>
          </a:prstGeom>
          <a:noFill/>
          <a:ln/>
        </p:spPr>
        <p:txBody>
          <a:bodyPr wrap="square" lIns="0" tIns="0" rIns="0" bIns="0" rtlCol="0" anchor="ctr"/>
          <a:lstStyle/>
          <a:p>
            <a:pPr marL="0" indent="0">
              <a:buNone/>
            </a:pPr>
            <a:r>
              <a:rPr lang="en-US" sz="1200" b="1" kern="0" spc="200" dirty="0">
                <a:solidFill>
                  <a:srgbClr val="5A6B7C"/>
                </a:solidFill>
                <a:latin typeface="Calibri" pitchFamily="34" charset="0"/>
                <a:ea typeface="Calibri" pitchFamily="34" charset="-122"/>
                <a:cs typeface="Calibri" pitchFamily="34" charset="-120"/>
              </a:rPr>
              <a:t>Mitigation</a:t>
            </a:r>
            <a:endParaRPr lang="en-US" sz="1200" dirty="0"/>
          </a:p>
        </p:txBody>
      </p:sp>
      <p:sp>
        <p:nvSpPr>
          <p:cNvPr id="8" name="Shape 6"/>
          <p:cNvSpPr/>
          <p:nvPr/>
        </p:nvSpPr>
        <p:spPr>
          <a:xfrm>
            <a:off x="548640" y="1773936"/>
            <a:ext cx="11091672" cy="841248"/>
          </a:xfrm>
          <a:prstGeom prst="rect">
            <a:avLst/>
          </a:prstGeom>
          <a:solidFill>
            <a:srgbClr val="F1F5F9"/>
          </a:solidFill>
          <a:ln/>
        </p:spPr>
      </p:sp>
      <p:sp>
        <p:nvSpPr>
          <p:cNvPr id="9" name="Text 7"/>
          <p:cNvSpPr txBox="1"/>
          <p:nvPr/>
        </p:nvSpPr>
        <p:spPr>
          <a:xfrm>
            <a:off x="713232" y="1828800"/>
            <a:ext cx="1691640" cy="274320"/>
          </a:xfrm>
          <a:prstGeom prst="rect">
            <a:avLst/>
          </a:prstGeom>
          <a:noFill/>
          <a:ln/>
        </p:spPr>
        <p:txBody>
          <a:bodyPr wrap="square" lIns="0" tIns="0" rIns="0" bIns="0" rtlCol="0" anchor="ctr"/>
          <a:lstStyle/>
          <a:p>
            <a:pPr marL="0" indent="0">
              <a:buNone/>
            </a:pPr>
            <a:r>
              <a:rPr lang="en-US" sz="1300" b="1" dirty="0">
                <a:solidFill>
                  <a:srgbClr val="ED232A"/>
                </a:solidFill>
                <a:latin typeface="Calibri" pitchFamily="34" charset="0"/>
                <a:ea typeface="Calibri" pitchFamily="34" charset="-122"/>
                <a:cs typeface="Calibri" pitchFamily="34" charset="-120"/>
              </a:rPr>
              <a:t>Data privacy</a:t>
            </a:r>
            <a:endParaRPr lang="en-US" sz="1300" dirty="0"/>
          </a:p>
        </p:txBody>
      </p:sp>
      <p:sp>
        <p:nvSpPr>
          <p:cNvPr id="10" name="Text 8"/>
          <p:cNvSpPr txBox="1"/>
          <p:nvPr/>
        </p:nvSpPr>
        <p:spPr>
          <a:xfrm>
            <a:off x="2468880" y="1828800"/>
            <a:ext cx="3886200" cy="749808"/>
          </a:xfrm>
          <a:prstGeom prst="rect">
            <a:avLst/>
          </a:prstGeom>
          <a:noFill/>
          <a:ln/>
        </p:spPr>
        <p:txBody>
          <a:bodyPr wrap="square" lIns="0" tIns="0" rIns="0" bIns="0" rtlCol="0" anchor="t"/>
          <a:lstStyle/>
          <a:p>
            <a:pPr marL="0" indent="0">
              <a:lnSpc>
                <a:spcPts val="1400"/>
              </a:lnSpc>
              <a:buNone/>
            </a:pPr>
            <a:r>
              <a:rPr lang="en-US" sz="1100" dirty="0">
                <a:solidFill>
                  <a:srgbClr val="3D4C5A"/>
                </a:solidFill>
                <a:latin typeface="Calibri" pitchFamily="34" charset="0"/>
                <a:ea typeface="Calibri" pitchFamily="34" charset="-122"/>
                <a:cs typeface="Calibri" pitchFamily="34" charset="-120"/>
              </a:rPr>
              <a:t>Fraud models use sensitive personal and location data.</a:t>
            </a:r>
            <a:endParaRPr lang="en-US" sz="1100" dirty="0"/>
          </a:p>
        </p:txBody>
      </p:sp>
      <p:sp>
        <p:nvSpPr>
          <p:cNvPr id="11" name="Text 9"/>
          <p:cNvSpPr txBox="1"/>
          <p:nvPr/>
        </p:nvSpPr>
        <p:spPr>
          <a:xfrm>
            <a:off x="6492240" y="1828800"/>
            <a:ext cx="4983480" cy="749808"/>
          </a:xfrm>
          <a:prstGeom prst="rect">
            <a:avLst/>
          </a:prstGeom>
          <a:noFill/>
          <a:ln/>
        </p:spPr>
        <p:txBody>
          <a:bodyPr wrap="square" lIns="0" tIns="0" rIns="0" bIns="0" rtlCol="0" anchor="t"/>
          <a:lstStyle/>
          <a:p>
            <a:pPr marL="0" indent="0">
              <a:lnSpc>
                <a:spcPts val="1400"/>
              </a:lnSpc>
              <a:buNone/>
            </a:pPr>
            <a:r>
              <a:rPr lang="en-US" sz="1100" dirty="0">
                <a:solidFill>
                  <a:srgbClr val="004C8F"/>
                </a:solidFill>
                <a:latin typeface="Calibri" pitchFamily="34" charset="0"/>
                <a:ea typeface="Calibri" pitchFamily="34" charset="-122"/>
                <a:cs typeface="Calibri" pitchFamily="34" charset="-120"/>
              </a:rPr>
              <a:t>Comply with the DPDP Act 2023; minimise, encrypt and restrict data by purpose.</a:t>
            </a:r>
            <a:endParaRPr lang="en-US" sz="1100" dirty="0"/>
          </a:p>
        </p:txBody>
      </p:sp>
      <p:sp>
        <p:nvSpPr>
          <p:cNvPr id="12" name="Text 10"/>
          <p:cNvSpPr txBox="1"/>
          <p:nvPr/>
        </p:nvSpPr>
        <p:spPr>
          <a:xfrm>
            <a:off x="713232" y="2734056"/>
            <a:ext cx="1691640" cy="274320"/>
          </a:xfrm>
          <a:prstGeom prst="rect">
            <a:avLst/>
          </a:prstGeom>
          <a:noFill/>
          <a:ln/>
        </p:spPr>
        <p:txBody>
          <a:bodyPr wrap="square" lIns="0" tIns="0" rIns="0" bIns="0" rtlCol="0" anchor="ctr"/>
          <a:lstStyle/>
          <a:p>
            <a:pPr marL="0" indent="0">
              <a:buNone/>
            </a:pPr>
            <a:r>
              <a:rPr lang="en-US" sz="1300" b="1" dirty="0">
                <a:solidFill>
                  <a:srgbClr val="ED232A"/>
                </a:solidFill>
                <a:latin typeface="Calibri" pitchFamily="34" charset="0"/>
                <a:ea typeface="Calibri" pitchFamily="34" charset="-122"/>
                <a:cs typeface="Calibri" pitchFamily="34" charset="-120"/>
              </a:rPr>
              <a:t>Bias &amp; fairness</a:t>
            </a:r>
            <a:endParaRPr lang="en-US" sz="1300" dirty="0"/>
          </a:p>
        </p:txBody>
      </p:sp>
      <p:sp>
        <p:nvSpPr>
          <p:cNvPr id="13" name="Text 11"/>
          <p:cNvSpPr txBox="1"/>
          <p:nvPr/>
        </p:nvSpPr>
        <p:spPr>
          <a:xfrm>
            <a:off x="2468880" y="2734056"/>
            <a:ext cx="3886200" cy="749808"/>
          </a:xfrm>
          <a:prstGeom prst="rect">
            <a:avLst/>
          </a:prstGeom>
          <a:noFill/>
          <a:ln/>
        </p:spPr>
        <p:txBody>
          <a:bodyPr wrap="square" lIns="0" tIns="0" rIns="0" bIns="0" rtlCol="0" anchor="t"/>
          <a:lstStyle/>
          <a:p>
            <a:pPr marL="0" indent="0">
              <a:lnSpc>
                <a:spcPts val="1400"/>
              </a:lnSpc>
              <a:buNone/>
            </a:pPr>
            <a:r>
              <a:rPr lang="en-US" sz="1100" dirty="0">
                <a:solidFill>
                  <a:srgbClr val="3D4C5A"/>
                </a:solidFill>
                <a:latin typeface="Calibri" pitchFamily="34" charset="0"/>
                <a:ea typeface="Calibri" pitchFamily="34" charset="-122"/>
                <a:cs typeface="Calibri" pitchFamily="34" charset="-120"/>
              </a:rPr>
              <a:t>Models may over-flag customers from particular regions, income groups or transaction styles.</a:t>
            </a:r>
            <a:endParaRPr lang="en-US" sz="1100" dirty="0"/>
          </a:p>
        </p:txBody>
      </p:sp>
      <p:sp>
        <p:nvSpPr>
          <p:cNvPr id="14" name="Text 12"/>
          <p:cNvSpPr txBox="1"/>
          <p:nvPr/>
        </p:nvSpPr>
        <p:spPr>
          <a:xfrm>
            <a:off x="6492240" y="2734056"/>
            <a:ext cx="4983480" cy="749808"/>
          </a:xfrm>
          <a:prstGeom prst="rect">
            <a:avLst/>
          </a:prstGeom>
          <a:noFill/>
          <a:ln/>
        </p:spPr>
        <p:txBody>
          <a:bodyPr wrap="square" lIns="0" tIns="0" rIns="0" bIns="0" rtlCol="0" anchor="t"/>
          <a:lstStyle/>
          <a:p>
            <a:pPr marL="0" indent="0">
              <a:lnSpc>
                <a:spcPts val="1400"/>
              </a:lnSpc>
              <a:buNone/>
            </a:pPr>
            <a:r>
              <a:rPr lang="en-US" sz="1100" dirty="0">
                <a:solidFill>
                  <a:srgbClr val="004C8F"/>
                </a:solidFill>
                <a:latin typeface="Calibri" pitchFamily="34" charset="0"/>
                <a:ea typeface="Calibri" pitchFamily="34" charset="-122"/>
                <a:cs typeface="Calibri" pitchFamily="34" charset="-120"/>
              </a:rPr>
              <a:t>Test false-positive rates across customer segments; audit and retrain where gaps appear.</a:t>
            </a:r>
            <a:endParaRPr lang="en-US" sz="1100" dirty="0"/>
          </a:p>
        </p:txBody>
      </p:sp>
      <p:sp>
        <p:nvSpPr>
          <p:cNvPr id="15" name="Shape 13"/>
          <p:cNvSpPr/>
          <p:nvPr/>
        </p:nvSpPr>
        <p:spPr>
          <a:xfrm>
            <a:off x="548640" y="3584448"/>
            <a:ext cx="11091672" cy="841248"/>
          </a:xfrm>
          <a:prstGeom prst="rect">
            <a:avLst/>
          </a:prstGeom>
          <a:solidFill>
            <a:srgbClr val="F1F5F9"/>
          </a:solidFill>
          <a:ln/>
        </p:spPr>
      </p:sp>
      <p:sp>
        <p:nvSpPr>
          <p:cNvPr id="16" name="Text 14"/>
          <p:cNvSpPr txBox="1"/>
          <p:nvPr/>
        </p:nvSpPr>
        <p:spPr>
          <a:xfrm>
            <a:off x="713232" y="3639312"/>
            <a:ext cx="1691640" cy="274320"/>
          </a:xfrm>
          <a:prstGeom prst="rect">
            <a:avLst/>
          </a:prstGeom>
          <a:noFill/>
          <a:ln/>
        </p:spPr>
        <p:txBody>
          <a:bodyPr wrap="square" lIns="0" tIns="0" rIns="0" bIns="0" rtlCol="0" anchor="ctr"/>
          <a:lstStyle/>
          <a:p>
            <a:pPr marL="0" indent="0">
              <a:buNone/>
            </a:pPr>
            <a:r>
              <a:rPr lang="en-US" sz="1300" b="1" dirty="0">
                <a:solidFill>
                  <a:srgbClr val="ED232A"/>
                </a:solidFill>
                <a:latin typeface="Calibri" pitchFamily="34" charset="0"/>
                <a:ea typeface="Calibri" pitchFamily="34" charset="-122"/>
                <a:cs typeface="Calibri" pitchFamily="34" charset="-120"/>
              </a:rPr>
              <a:t>False positives</a:t>
            </a:r>
            <a:endParaRPr lang="en-US" sz="1300" dirty="0"/>
          </a:p>
        </p:txBody>
      </p:sp>
      <p:sp>
        <p:nvSpPr>
          <p:cNvPr id="17" name="Text 15"/>
          <p:cNvSpPr txBox="1"/>
          <p:nvPr/>
        </p:nvSpPr>
        <p:spPr>
          <a:xfrm>
            <a:off x="2468880" y="3639312"/>
            <a:ext cx="3886200" cy="749808"/>
          </a:xfrm>
          <a:prstGeom prst="rect">
            <a:avLst/>
          </a:prstGeom>
          <a:noFill/>
          <a:ln/>
        </p:spPr>
        <p:txBody>
          <a:bodyPr wrap="square" lIns="0" tIns="0" rIns="0" bIns="0" rtlCol="0" anchor="t"/>
          <a:lstStyle/>
          <a:p>
            <a:pPr marL="0" indent="0">
              <a:lnSpc>
                <a:spcPts val="1400"/>
              </a:lnSpc>
              <a:buNone/>
            </a:pPr>
            <a:r>
              <a:rPr lang="en-US" sz="1100" dirty="0">
                <a:solidFill>
                  <a:srgbClr val="3D4C5A"/>
                </a:solidFill>
                <a:latin typeface="Calibri" pitchFamily="34" charset="0"/>
                <a:ea typeface="Calibri" pitchFamily="34" charset="-122"/>
                <a:cs typeface="Calibri" pitchFamily="34" charset="-120"/>
              </a:rPr>
              <a:t>Blocking genuine payments frustrates customers and can cost the relationship.</a:t>
            </a:r>
            <a:endParaRPr lang="en-US" sz="1100" dirty="0"/>
          </a:p>
        </p:txBody>
      </p:sp>
      <p:sp>
        <p:nvSpPr>
          <p:cNvPr id="18" name="Text 16"/>
          <p:cNvSpPr txBox="1"/>
          <p:nvPr/>
        </p:nvSpPr>
        <p:spPr>
          <a:xfrm>
            <a:off x="6492240" y="3639312"/>
            <a:ext cx="4983480" cy="749808"/>
          </a:xfrm>
          <a:prstGeom prst="rect">
            <a:avLst/>
          </a:prstGeom>
          <a:noFill/>
          <a:ln/>
        </p:spPr>
        <p:txBody>
          <a:bodyPr wrap="square" lIns="0" tIns="0" rIns="0" bIns="0" rtlCol="0" anchor="t"/>
          <a:lstStyle/>
          <a:p>
            <a:pPr marL="0" indent="0">
              <a:lnSpc>
                <a:spcPts val="1400"/>
              </a:lnSpc>
              <a:buNone/>
            </a:pPr>
            <a:r>
              <a:rPr lang="en-US" sz="1100" dirty="0">
                <a:solidFill>
                  <a:srgbClr val="004C8F"/>
                </a:solidFill>
                <a:latin typeface="Calibri" pitchFamily="34" charset="0"/>
                <a:ea typeface="Calibri" pitchFamily="34" charset="-122"/>
                <a:cs typeface="Calibri" pitchFamily="34" charset="-120"/>
              </a:rPr>
              <a:t>Tune thresholds on business cost, not accuracy; offer instant step-up verification instead of hard blocks.</a:t>
            </a:r>
            <a:endParaRPr lang="en-US" sz="1100" dirty="0"/>
          </a:p>
        </p:txBody>
      </p:sp>
      <p:sp>
        <p:nvSpPr>
          <p:cNvPr id="19" name="Text 17"/>
          <p:cNvSpPr txBox="1"/>
          <p:nvPr/>
        </p:nvSpPr>
        <p:spPr>
          <a:xfrm>
            <a:off x="713232" y="4544568"/>
            <a:ext cx="1691640" cy="274320"/>
          </a:xfrm>
          <a:prstGeom prst="rect">
            <a:avLst/>
          </a:prstGeom>
          <a:noFill/>
          <a:ln/>
        </p:spPr>
        <p:txBody>
          <a:bodyPr wrap="square" lIns="0" tIns="0" rIns="0" bIns="0" rtlCol="0" anchor="ctr"/>
          <a:lstStyle/>
          <a:p>
            <a:pPr marL="0" indent="0">
              <a:buNone/>
            </a:pPr>
            <a:r>
              <a:rPr lang="en-US" sz="1300" b="1" dirty="0">
                <a:solidFill>
                  <a:srgbClr val="ED232A"/>
                </a:solidFill>
                <a:latin typeface="Calibri" pitchFamily="34" charset="0"/>
                <a:ea typeface="Calibri" pitchFamily="34" charset="-122"/>
                <a:cs typeface="Calibri" pitchFamily="34" charset="-120"/>
              </a:rPr>
              <a:t>Opacity</a:t>
            </a:r>
            <a:endParaRPr lang="en-US" sz="1300" dirty="0"/>
          </a:p>
        </p:txBody>
      </p:sp>
      <p:sp>
        <p:nvSpPr>
          <p:cNvPr id="20" name="Text 18"/>
          <p:cNvSpPr txBox="1"/>
          <p:nvPr/>
        </p:nvSpPr>
        <p:spPr>
          <a:xfrm>
            <a:off x="2468880" y="4544568"/>
            <a:ext cx="3886200" cy="749808"/>
          </a:xfrm>
          <a:prstGeom prst="rect">
            <a:avLst/>
          </a:prstGeom>
          <a:noFill/>
          <a:ln/>
        </p:spPr>
        <p:txBody>
          <a:bodyPr wrap="square" lIns="0" tIns="0" rIns="0" bIns="0" rtlCol="0" anchor="t"/>
          <a:lstStyle/>
          <a:p>
            <a:pPr marL="0" indent="0">
              <a:lnSpc>
                <a:spcPts val="1400"/>
              </a:lnSpc>
              <a:buNone/>
            </a:pPr>
            <a:r>
              <a:rPr lang="en-US" sz="1100" dirty="0">
                <a:solidFill>
                  <a:srgbClr val="3D4C5A"/>
                </a:solidFill>
                <a:latin typeface="Calibri" pitchFamily="34" charset="0"/>
                <a:ea typeface="Calibri" pitchFamily="34" charset="-122"/>
                <a:cs typeface="Calibri" pitchFamily="34" charset="-120"/>
              </a:rPr>
              <a:t>A complex model cannot easily explain why a transaction was blocked.</a:t>
            </a:r>
            <a:endParaRPr lang="en-US" sz="1100" dirty="0"/>
          </a:p>
        </p:txBody>
      </p:sp>
      <p:sp>
        <p:nvSpPr>
          <p:cNvPr id="21" name="Text 19"/>
          <p:cNvSpPr txBox="1"/>
          <p:nvPr/>
        </p:nvSpPr>
        <p:spPr>
          <a:xfrm>
            <a:off x="6492240" y="4544568"/>
            <a:ext cx="4983480" cy="749808"/>
          </a:xfrm>
          <a:prstGeom prst="rect">
            <a:avLst/>
          </a:prstGeom>
          <a:noFill/>
          <a:ln/>
        </p:spPr>
        <p:txBody>
          <a:bodyPr wrap="square" lIns="0" tIns="0" rIns="0" bIns="0" rtlCol="0" anchor="t"/>
          <a:lstStyle/>
          <a:p>
            <a:pPr marL="0" indent="0">
              <a:lnSpc>
                <a:spcPts val="1400"/>
              </a:lnSpc>
              <a:buNone/>
            </a:pPr>
            <a:r>
              <a:rPr lang="en-US" sz="1100" dirty="0">
                <a:solidFill>
                  <a:srgbClr val="004C8F"/>
                </a:solidFill>
                <a:latin typeface="Calibri" pitchFamily="34" charset="0"/>
                <a:ea typeface="Calibri" pitchFamily="34" charset="-122"/>
                <a:cs typeface="Calibri" pitchFamily="34" charset="-120"/>
              </a:rPr>
              <a:t>Use explainability tools (e.g. SHAP) and keep an interpretable fallback model for audit.</a:t>
            </a:r>
            <a:endParaRPr lang="en-US" sz="1100" dirty="0"/>
          </a:p>
        </p:txBody>
      </p:sp>
      <p:sp>
        <p:nvSpPr>
          <p:cNvPr id="22" name="Shape 20"/>
          <p:cNvSpPr/>
          <p:nvPr/>
        </p:nvSpPr>
        <p:spPr>
          <a:xfrm>
            <a:off x="548640" y="5394960"/>
            <a:ext cx="11091672" cy="841248"/>
          </a:xfrm>
          <a:prstGeom prst="rect">
            <a:avLst/>
          </a:prstGeom>
          <a:solidFill>
            <a:srgbClr val="F1F5F9"/>
          </a:solidFill>
          <a:ln/>
        </p:spPr>
      </p:sp>
      <p:sp>
        <p:nvSpPr>
          <p:cNvPr id="23" name="Text 21"/>
          <p:cNvSpPr txBox="1"/>
          <p:nvPr/>
        </p:nvSpPr>
        <p:spPr>
          <a:xfrm>
            <a:off x="713232" y="5449824"/>
            <a:ext cx="1691640" cy="274320"/>
          </a:xfrm>
          <a:prstGeom prst="rect">
            <a:avLst/>
          </a:prstGeom>
          <a:noFill/>
          <a:ln/>
        </p:spPr>
        <p:txBody>
          <a:bodyPr wrap="square" lIns="0" tIns="0" rIns="0" bIns="0" rtlCol="0" anchor="ctr"/>
          <a:lstStyle/>
          <a:p>
            <a:pPr marL="0" indent="0">
              <a:buNone/>
            </a:pPr>
            <a:r>
              <a:rPr lang="en-US" sz="1300" b="1" dirty="0">
                <a:solidFill>
                  <a:srgbClr val="ED232A"/>
                </a:solidFill>
                <a:latin typeface="Calibri" pitchFamily="34" charset="0"/>
                <a:ea typeface="Calibri" pitchFamily="34" charset="-122"/>
                <a:cs typeface="Calibri" pitchFamily="34" charset="-120"/>
              </a:rPr>
              <a:t>Model drift</a:t>
            </a:r>
            <a:endParaRPr lang="en-US" sz="1300" dirty="0"/>
          </a:p>
        </p:txBody>
      </p:sp>
      <p:sp>
        <p:nvSpPr>
          <p:cNvPr id="24" name="Text 22"/>
          <p:cNvSpPr txBox="1"/>
          <p:nvPr/>
        </p:nvSpPr>
        <p:spPr>
          <a:xfrm>
            <a:off x="2468880" y="5449824"/>
            <a:ext cx="3886200" cy="749808"/>
          </a:xfrm>
          <a:prstGeom prst="rect">
            <a:avLst/>
          </a:prstGeom>
          <a:noFill/>
          <a:ln/>
        </p:spPr>
        <p:txBody>
          <a:bodyPr wrap="square" lIns="0" tIns="0" rIns="0" bIns="0" rtlCol="0" anchor="t"/>
          <a:lstStyle/>
          <a:p>
            <a:pPr marL="0" indent="0">
              <a:lnSpc>
                <a:spcPts val="1400"/>
              </a:lnSpc>
              <a:buNone/>
            </a:pPr>
            <a:r>
              <a:rPr lang="en-US" sz="1100" dirty="0">
                <a:solidFill>
                  <a:srgbClr val="3D4C5A"/>
                </a:solidFill>
                <a:latin typeface="Calibri" pitchFamily="34" charset="0"/>
                <a:ea typeface="Calibri" pitchFamily="34" charset="-122"/>
                <a:cs typeface="Calibri" pitchFamily="34" charset="-120"/>
              </a:rPr>
              <a:t>Fraudsters change tactics, so performance silently decays over time.</a:t>
            </a:r>
            <a:endParaRPr lang="en-US" sz="1100" dirty="0"/>
          </a:p>
        </p:txBody>
      </p:sp>
      <p:sp>
        <p:nvSpPr>
          <p:cNvPr id="25" name="Text 23"/>
          <p:cNvSpPr txBox="1"/>
          <p:nvPr/>
        </p:nvSpPr>
        <p:spPr>
          <a:xfrm>
            <a:off x="6492240" y="5449824"/>
            <a:ext cx="4983480" cy="749808"/>
          </a:xfrm>
          <a:prstGeom prst="rect">
            <a:avLst/>
          </a:prstGeom>
          <a:noFill/>
          <a:ln/>
        </p:spPr>
        <p:txBody>
          <a:bodyPr wrap="square" lIns="0" tIns="0" rIns="0" bIns="0" rtlCol="0" anchor="t"/>
          <a:lstStyle/>
          <a:p>
            <a:pPr marL="0" indent="0">
              <a:lnSpc>
                <a:spcPts val="1400"/>
              </a:lnSpc>
              <a:buNone/>
            </a:pPr>
            <a:r>
              <a:rPr lang="en-US" sz="1100" dirty="0">
                <a:solidFill>
                  <a:srgbClr val="004C8F"/>
                </a:solidFill>
                <a:latin typeface="Calibri" pitchFamily="34" charset="0"/>
                <a:ea typeface="Calibri" pitchFamily="34" charset="-122"/>
                <a:cs typeface="Calibri" pitchFamily="34" charset="-120"/>
              </a:rPr>
              <a:t>Monitor live precision and recall; retrain on a fixed schedule and after major incidents.</a:t>
            </a:r>
            <a:endParaRPr lang="en-US" sz="1100" dirty="0"/>
          </a:p>
        </p:txBody>
      </p:sp>
      <p:sp>
        <p:nvSpPr>
          <p:cNvPr id="26" name="Shape 24"/>
          <p:cNvSpPr/>
          <p:nvPr/>
        </p:nvSpPr>
        <p:spPr>
          <a:xfrm>
            <a:off x="548640" y="6400800"/>
            <a:ext cx="11091672" cy="91"/>
          </a:xfrm>
          <a:prstGeom prst="roundRect">
            <a:avLst>
              <a:gd name="adj" fmla="val 10048352"/>
            </a:avLst>
          </a:prstGeom>
          <a:solidFill>
            <a:srgbClr val="FFFFFF"/>
          </a:solidFill>
          <a:ln w="6350">
            <a:solidFill>
              <a:srgbClr val="FFFFFF"/>
            </a:solidFill>
            <a:prstDash val="solid"/>
          </a:ln>
        </p:spPr>
      </p:sp>
      <p:sp>
        <p:nvSpPr>
          <p:cNvPr id="27" name="Text 25"/>
          <p:cNvSpPr txBox="1"/>
          <p:nvPr/>
        </p:nvSpPr>
        <p:spPr>
          <a:xfrm>
            <a:off x="548640" y="6355080"/>
            <a:ext cx="11091672" cy="365760"/>
          </a:xfrm>
          <a:prstGeom prst="rect">
            <a:avLst/>
          </a:prstGeom>
          <a:noFill/>
          <a:ln/>
        </p:spPr>
        <p:txBody>
          <a:bodyPr wrap="square" lIns="0" tIns="0" rIns="0" bIns="0" rtlCol="0" anchor="ctr"/>
          <a:lstStyle/>
          <a:p>
            <a:pPr marL="0" indent="0">
              <a:buNone/>
            </a:pPr>
            <a:r>
              <a:rPr lang="en-US" sz="1200" b="1" i="1" dirty="0">
                <a:solidFill>
                  <a:srgbClr val="0A2540"/>
                </a:solidFill>
                <a:latin typeface="Calibri" pitchFamily="34" charset="0"/>
                <a:ea typeface="Calibri" pitchFamily="34" charset="-122"/>
                <a:cs typeface="Calibri" pitchFamily="34" charset="-120"/>
              </a:rPr>
              <a:t>Responsible AI principle: the model advises, a human decides. No customer account should be permanently frozen on an algorithmic score alone.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9509760" cy="548640"/>
          </a:xfrm>
          <a:prstGeom prst="rect">
            <a:avLst/>
          </a:prstGeom>
          <a:noFill/>
          <a:ln/>
        </p:spPr>
        <p:txBody>
          <a:bodyPr wrap="square" lIns="0" tIns="0" rIns="0" bIns="0" rtlCol="0" anchor="ctr"/>
          <a:lstStyle/>
          <a:p>
            <a:pPr marL="0" indent="0">
              <a:buNone/>
            </a:pPr>
            <a:r>
              <a:rPr lang="en-US" sz="3200" b="1" dirty="0">
                <a:solidFill>
                  <a:srgbClr val="0A2540"/>
                </a:solidFill>
                <a:latin typeface="Cambria" pitchFamily="34" charset="0"/>
                <a:ea typeface="Cambria" pitchFamily="34" charset="-122"/>
                <a:cs typeface="Cambria" pitchFamily="34" charset="-120"/>
              </a:rPr>
              <a:t>AI Tools &amp; Prompts Used</a:t>
            </a:r>
            <a:endParaRPr lang="en-US" sz="3200" dirty="0"/>
          </a:p>
        </p:txBody>
      </p:sp>
      <p:sp>
        <p:nvSpPr>
          <p:cNvPr id="3" name="Text 1"/>
          <p:cNvSpPr txBox="1"/>
          <p:nvPr/>
        </p:nvSpPr>
        <p:spPr>
          <a:xfrm>
            <a:off x="548640" y="950976"/>
            <a:ext cx="9509760" cy="292608"/>
          </a:xfrm>
          <a:prstGeom prst="rect">
            <a:avLst/>
          </a:prstGeom>
          <a:noFill/>
          <a:ln/>
        </p:spPr>
        <p:txBody>
          <a:bodyPr wrap="square" lIns="0" tIns="0" rIns="0" bIns="0" rtlCol="0" anchor="ctr"/>
          <a:lstStyle/>
          <a:p>
            <a:pPr marL="0" indent="0">
              <a:buNone/>
            </a:pPr>
            <a:r>
              <a:rPr lang="en-US" sz="1300" i="1" dirty="0">
                <a:solidFill>
                  <a:srgbClr val="5A6B7C"/>
                </a:solidFill>
                <a:latin typeface="Calibri" pitchFamily="34" charset="0"/>
                <a:ea typeface="Calibri" pitchFamily="34" charset="-122"/>
                <a:cs typeface="Calibri" pitchFamily="34" charset="-120"/>
              </a:rPr>
              <a:t>Part B — How Generative AI supported this research</a:t>
            </a:r>
            <a:endParaRPr lang="en-US" sz="1300" dirty="0"/>
          </a:p>
        </p:txBody>
      </p:sp>
      <p:sp>
        <p:nvSpPr>
          <p:cNvPr id="4" name="Shape 2"/>
          <p:cNvSpPr/>
          <p:nvPr/>
        </p:nvSpPr>
        <p:spPr>
          <a:xfrm>
            <a:off x="11109960" y="384048"/>
            <a:ext cx="566928" cy="566928"/>
          </a:xfrm>
          <a:prstGeom prst="ellipse">
            <a:avLst/>
          </a:prstGeom>
          <a:solidFill>
            <a:srgbClr val="F1F5F9"/>
          </a:solidFill>
          <a:ln/>
        </p:spPr>
      </p:sp>
      <p:sp>
        <p:nvSpPr>
          <p:cNvPr id="5" name="Text 3"/>
          <p:cNvSpPr txBox="1"/>
          <p:nvPr/>
        </p:nvSpPr>
        <p:spPr>
          <a:xfrm>
            <a:off x="11109960" y="384048"/>
            <a:ext cx="566928" cy="566928"/>
          </a:xfrm>
          <a:prstGeom prst="rect">
            <a:avLst/>
          </a:prstGeom>
          <a:noFill/>
          <a:ln/>
        </p:spPr>
        <p:txBody>
          <a:bodyPr wrap="square" lIns="0" tIns="0" rIns="0" bIns="0" rtlCol="0" anchor="ctr"/>
          <a:lstStyle/>
          <a:p>
            <a:pPr marL="0" indent="0" algn="ctr">
              <a:buNone/>
            </a:pPr>
            <a:r>
              <a:rPr lang="en-US" sz="1600" b="1" dirty="0">
                <a:solidFill>
                  <a:srgbClr val="004C8F"/>
                </a:solidFill>
                <a:latin typeface="Cambria" pitchFamily="34" charset="0"/>
                <a:ea typeface="Cambria" pitchFamily="34" charset="-122"/>
                <a:cs typeface="Cambria" pitchFamily="34" charset="-120"/>
              </a:rPr>
              <a:t>9</a:t>
            </a:r>
            <a:endParaRPr lang="en-US" sz="1600" dirty="0"/>
          </a:p>
        </p:txBody>
      </p:sp>
      <p:sp>
        <p:nvSpPr>
          <p:cNvPr id="6" name="Shape 4"/>
          <p:cNvSpPr/>
          <p:nvPr/>
        </p:nvSpPr>
        <p:spPr>
          <a:xfrm>
            <a:off x="548640" y="1508760"/>
            <a:ext cx="5166360" cy="1170432"/>
          </a:xfrm>
          <a:prstGeom prst="roundRect">
            <a:avLst>
              <a:gd name="adj" fmla="val 6250"/>
            </a:avLst>
          </a:prstGeom>
          <a:solidFill>
            <a:srgbClr val="F1F5F9"/>
          </a:solidFill>
          <a:ln w="12700">
            <a:solidFill>
              <a:srgbClr val="F1F5F9"/>
            </a:solidFill>
            <a:prstDash val="solid"/>
          </a:ln>
        </p:spPr>
      </p:sp>
      <p:sp>
        <p:nvSpPr>
          <p:cNvPr id="7" name="Text 5"/>
          <p:cNvSpPr txBox="1"/>
          <p:nvPr/>
        </p:nvSpPr>
        <p:spPr>
          <a:xfrm>
            <a:off x="822960" y="1645920"/>
            <a:ext cx="2743200" cy="256032"/>
          </a:xfrm>
          <a:prstGeom prst="rect">
            <a:avLst/>
          </a:prstGeom>
          <a:noFill/>
          <a:ln/>
        </p:spPr>
        <p:txBody>
          <a:bodyPr wrap="square" lIns="0" tIns="0" rIns="0" bIns="0" rtlCol="0" anchor="ctr"/>
          <a:lstStyle/>
          <a:p>
            <a:pPr marL="0" indent="0">
              <a:buNone/>
            </a:pPr>
            <a:r>
              <a:rPr lang="en-US" sz="1100" b="1" kern="0" spc="100" dirty="0">
                <a:solidFill>
                  <a:srgbClr val="5A6B7C"/>
                </a:solidFill>
                <a:latin typeface="Calibri" pitchFamily="34" charset="0"/>
                <a:ea typeface="Calibri" pitchFamily="34" charset="-122"/>
                <a:cs typeface="Calibri" pitchFamily="34" charset="-120"/>
              </a:rPr>
              <a:t>Tool used</a:t>
            </a:r>
            <a:endParaRPr lang="en-US" sz="1100" dirty="0"/>
          </a:p>
        </p:txBody>
      </p:sp>
      <p:sp>
        <p:nvSpPr>
          <p:cNvPr id="8" name="Text 6"/>
          <p:cNvSpPr txBox="1"/>
          <p:nvPr/>
        </p:nvSpPr>
        <p:spPr>
          <a:xfrm>
            <a:off x="822960" y="1883664"/>
            <a:ext cx="2743200" cy="329184"/>
          </a:xfrm>
          <a:prstGeom prst="rect">
            <a:avLst/>
          </a:prstGeom>
          <a:noFill/>
          <a:ln/>
        </p:spPr>
        <p:txBody>
          <a:bodyPr wrap="square" lIns="0" tIns="0" rIns="0" bIns="0" rtlCol="0" anchor="ctr"/>
          <a:lstStyle/>
          <a:p>
            <a:pPr marL="0" indent="0">
              <a:buNone/>
            </a:pPr>
            <a:r>
              <a:rPr lang="en-US" sz="2000" b="1" dirty="0">
                <a:solidFill>
                  <a:srgbClr val="004C8F"/>
                </a:solidFill>
                <a:latin typeface="Cambria" pitchFamily="34" charset="0"/>
                <a:ea typeface="Cambria" pitchFamily="34" charset="-122"/>
                <a:cs typeface="Cambria" pitchFamily="34" charset="-120"/>
              </a:rPr>
              <a:t>Claude</a:t>
            </a:r>
            <a:endParaRPr lang="en-US" sz="2000" dirty="0"/>
          </a:p>
        </p:txBody>
      </p:sp>
      <p:sp>
        <p:nvSpPr>
          <p:cNvPr id="9" name="Text 7"/>
          <p:cNvSpPr txBox="1"/>
          <p:nvPr/>
        </p:nvSpPr>
        <p:spPr>
          <a:xfrm>
            <a:off x="822960" y="2231136"/>
            <a:ext cx="4617720" cy="502920"/>
          </a:xfrm>
          <a:prstGeom prst="rect">
            <a:avLst/>
          </a:prstGeom>
          <a:noFill/>
          <a:ln/>
        </p:spPr>
        <p:txBody>
          <a:bodyPr wrap="square" lIns="0" tIns="0" rIns="0" bIns="0" rtlCol="0" anchor="ctr"/>
          <a:lstStyle/>
          <a:p>
            <a:pPr marL="0" indent="0">
              <a:lnSpc>
                <a:spcPts val="1400"/>
              </a:lnSpc>
              <a:buNone/>
            </a:pPr>
            <a:r>
              <a:rPr lang="en-US" sz="1050" dirty="0">
                <a:solidFill>
                  <a:srgbClr val="5A6B7C"/>
                </a:solidFill>
                <a:latin typeface="Calibri" pitchFamily="34" charset="0"/>
                <a:ea typeface="Calibri" pitchFamily="34" charset="-122"/>
                <a:cs typeface="Calibri" pitchFamily="34" charset="-120"/>
              </a:rPr>
              <a:t>Used for structuring the case study, running live searches against RBI and HDFC's own filings, cross-checking figures, and generating this deck.</a:t>
            </a:r>
            <a:endParaRPr lang="en-US" sz="1050" dirty="0"/>
          </a:p>
        </p:txBody>
      </p:sp>
      <p:sp>
        <p:nvSpPr>
          <p:cNvPr id="10" name="Text 8"/>
          <p:cNvSpPr txBox="1"/>
          <p:nvPr/>
        </p:nvSpPr>
        <p:spPr>
          <a:xfrm>
            <a:off x="548640" y="2788920"/>
            <a:ext cx="5486400" cy="292608"/>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Research prompts used</a:t>
            </a:r>
            <a:endParaRPr lang="en-US" sz="1500" dirty="0"/>
          </a:p>
        </p:txBody>
      </p:sp>
      <p:sp>
        <p:nvSpPr>
          <p:cNvPr id="11" name="Shape 9"/>
          <p:cNvSpPr/>
          <p:nvPr/>
        </p:nvSpPr>
        <p:spPr>
          <a:xfrm>
            <a:off x="548640" y="3154680"/>
            <a:ext cx="11091672" cy="731520"/>
          </a:xfrm>
          <a:prstGeom prst="roundRect">
            <a:avLst>
              <a:gd name="adj" fmla="val 10000"/>
            </a:avLst>
          </a:prstGeom>
          <a:solidFill>
            <a:srgbClr val="FFFFFF"/>
          </a:solidFill>
          <a:ln w="12700">
            <a:solidFill>
              <a:srgbClr val="DCE4EC"/>
            </a:solidFill>
            <a:prstDash val="solid"/>
          </a:ln>
        </p:spPr>
      </p:sp>
      <p:sp>
        <p:nvSpPr>
          <p:cNvPr id="12" name="Shape 10"/>
          <p:cNvSpPr/>
          <p:nvPr/>
        </p:nvSpPr>
        <p:spPr>
          <a:xfrm>
            <a:off x="731520" y="3355848"/>
            <a:ext cx="329184" cy="329184"/>
          </a:xfrm>
          <a:prstGeom prst="ellipse">
            <a:avLst/>
          </a:prstGeom>
          <a:solidFill>
            <a:srgbClr val="004C8F"/>
          </a:solidFill>
          <a:ln/>
        </p:spPr>
      </p:sp>
      <p:sp>
        <p:nvSpPr>
          <p:cNvPr id="13" name="Text 11"/>
          <p:cNvSpPr txBox="1"/>
          <p:nvPr/>
        </p:nvSpPr>
        <p:spPr>
          <a:xfrm>
            <a:off x="731520" y="335584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1234440" y="3246120"/>
            <a:ext cx="6309360" cy="548640"/>
          </a:xfrm>
          <a:prstGeom prst="rect">
            <a:avLst/>
          </a:prstGeom>
          <a:noFill/>
          <a:ln/>
        </p:spPr>
        <p:txBody>
          <a:bodyPr wrap="square" lIns="0" tIns="0" rIns="0" bIns="0" rtlCol="0" anchor="ctr"/>
          <a:lstStyle/>
          <a:p>
            <a:pPr marL="0" indent="0">
              <a:lnSpc>
                <a:spcPts val="1400"/>
              </a:lnSpc>
              <a:buNone/>
            </a:pPr>
            <a:r>
              <a:rPr lang="en-US" sz="1150" i="1" dirty="0">
                <a:solidFill>
                  <a:srgbClr val="0A2540"/>
                </a:solidFill>
                <a:latin typeface="Calibri" pitchFamily="34" charset="0"/>
                <a:ea typeface="Calibri" pitchFamily="34" charset="-122"/>
                <a:cs typeface="Calibri" pitchFamily="34" charset="-120"/>
              </a:rPr>
              <a:t>“HDFC Bank AI fraud detection machine learning”</a:t>
            </a:r>
            <a:endParaRPr lang="en-US" sz="1150" dirty="0"/>
          </a:p>
        </p:txBody>
      </p:sp>
      <p:sp>
        <p:nvSpPr>
          <p:cNvPr id="15" name="Text 13"/>
          <p:cNvSpPr txBox="1"/>
          <p:nvPr/>
        </p:nvSpPr>
        <p:spPr>
          <a:xfrm>
            <a:off x="7680960" y="3246120"/>
            <a:ext cx="3749040" cy="548640"/>
          </a:xfrm>
          <a:prstGeom prst="rect">
            <a:avLst/>
          </a:prstGeom>
          <a:noFill/>
          <a:ln/>
        </p:spPr>
        <p:txBody>
          <a:bodyPr wrap="square" lIns="0" tIns="0" rIns="0" bIns="0" rtlCol="0" anchor="ctr"/>
          <a:lstStyle/>
          <a:p>
            <a:pPr marL="0" indent="0">
              <a:lnSpc>
                <a:spcPts val="1400"/>
              </a:lnSpc>
              <a:buNone/>
            </a:pPr>
            <a:r>
              <a:rPr lang="en-US" sz="1050" dirty="0">
                <a:solidFill>
                  <a:srgbClr val="5A6B7C"/>
                </a:solidFill>
                <a:latin typeface="Calibri" pitchFamily="34" charset="0"/>
                <a:ea typeface="Calibri" pitchFamily="34" charset="-122"/>
                <a:cs typeface="Calibri" pitchFamily="34" charset="-120"/>
              </a:rPr>
              <a:t>Broad first pass — find what HDFC has publicly said about AI/ML use</a:t>
            </a:r>
            <a:endParaRPr lang="en-US" sz="1050" dirty="0"/>
          </a:p>
        </p:txBody>
      </p:sp>
      <p:sp>
        <p:nvSpPr>
          <p:cNvPr id="16" name="Shape 14"/>
          <p:cNvSpPr/>
          <p:nvPr/>
        </p:nvSpPr>
        <p:spPr>
          <a:xfrm>
            <a:off x="548640" y="3995928"/>
            <a:ext cx="11091672" cy="731520"/>
          </a:xfrm>
          <a:prstGeom prst="roundRect">
            <a:avLst>
              <a:gd name="adj" fmla="val 10000"/>
            </a:avLst>
          </a:prstGeom>
          <a:solidFill>
            <a:srgbClr val="FFFFFF"/>
          </a:solidFill>
          <a:ln w="12700">
            <a:solidFill>
              <a:srgbClr val="DCE4EC"/>
            </a:solidFill>
            <a:prstDash val="solid"/>
          </a:ln>
        </p:spPr>
      </p:sp>
      <p:sp>
        <p:nvSpPr>
          <p:cNvPr id="17" name="Shape 15"/>
          <p:cNvSpPr/>
          <p:nvPr/>
        </p:nvSpPr>
        <p:spPr>
          <a:xfrm>
            <a:off x="731520" y="4197096"/>
            <a:ext cx="329184" cy="329184"/>
          </a:xfrm>
          <a:prstGeom prst="ellipse">
            <a:avLst/>
          </a:prstGeom>
          <a:solidFill>
            <a:srgbClr val="004C8F"/>
          </a:solidFill>
          <a:ln/>
        </p:spPr>
      </p:sp>
      <p:sp>
        <p:nvSpPr>
          <p:cNvPr id="18" name="Text 16"/>
          <p:cNvSpPr txBox="1"/>
          <p:nvPr/>
        </p:nvSpPr>
        <p:spPr>
          <a:xfrm>
            <a:off x="731520" y="41970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txBox="1"/>
          <p:nvPr/>
        </p:nvSpPr>
        <p:spPr>
          <a:xfrm>
            <a:off x="1234440" y="4087368"/>
            <a:ext cx="6309360" cy="548640"/>
          </a:xfrm>
          <a:prstGeom prst="rect">
            <a:avLst/>
          </a:prstGeom>
          <a:noFill/>
          <a:ln/>
        </p:spPr>
        <p:txBody>
          <a:bodyPr wrap="square" lIns="0" tIns="0" rIns="0" bIns="0" rtlCol="0" anchor="ctr"/>
          <a:lstStyle/>
          <a:p>
            <a:pPr marL="0" indent="0">
              <a:lnSpc>
                <a:spcPts val="1400"/>
              </a:lnSpc>
              <a:buNone/>
            </a:pPr>
            <a:r>
              <a:rPr lang="en-US" sz="1150" i="1" dirty="0">
                <a:solidFill>
                  <a:srgbClr val="0A2540"/>
                </a:solidFill>
                <a:latin typeface="Calibri" pitchFamily="34" charset="0"/>
                <a:ea typeface="Calibri" pitchFamily="34" charset="-122"/>
                <a:cs typeface="Calibri" pitchFamily="34" charset="-120"/>
              </a:rPr>
              <a:t>“RBI annual report bank frauds amount FY2025 digital payment fraud India statistics”</a:t>
            </a:r>
            <a:endParaRPr lang="en-US" sz="1150" dirty="0"/>
          </a:p>
        </p:txBody>
      </p:sp>
      <p:sp>
        <p:nvSpPr>
          <p:cNvPr id="20" name="Text 18"/>
          <p:cNvSpPr txBox="1"/>
          <p:nvPr/>
        </p:nvSpPr>
        <p:spPr>
          <a:xfrm>
            <a:off x="7680960" y="4087368"/>
            <a:ext cx="3749040" cy="548640"/>
          </a:xfrm>
          <a:prstGeom prst="rect">
            <a:avLst/>
          </a:prstGeom>
          <a:noFill/>
          <a:ln/>
        </p:spPr>
        <p:txBody>
          <a:bodyPr wrap="square" lIns="0" tIns="0" rIns="0" bIns="0" rtlCol="0" anchor="ctr"/>
          <a:lstStyle/>
          <a:p>
            <a:pPr marL="0" indent="0">
              <a:lnSpc>
                <a:spcPts val="1400"/>
              </a:lnSpc>
              <a:buNone/>
            </a:pPr>
            <a:r>
              <a:rPr lang="en-US" sz="1050" dirty="0">
                <a:solidFill>
                  <a:srgbClr val="5A6B7C"/>
                </a:solidFill>
                <a:latin typeface="Calibri" pitchFamily="34" charset="0"/>
                <a:ea typeface="Calibri" pitchFamily="34" charset="-122"/>
                <a:cs typeface="Calibri" pitchFamily="34" charset="-120"/>
              </a:rPr>
              <a:t>Get authoritative, sourced fraud figures</a:t>
            </a:r>
            <a:endParaRPr lang="en-US" sz="1050" dirty="0"/>
          </a:p>
        </p:txBody>
      </p:sp>
      <p:sp>
        <p:nvSpPr>
          <p:cNvPr id="21" name="Shape 19"/>
          <p:cNvSpPr/>
          <p:nvPr/>
        </p:nvSpPr>
        <p:spPr>
          <a:xfrm>
            <a:off x="548640" y="4837176"/>
            <a:ext cx="11091672" cy="731520"/>
          </a:xfrm>
          <a:prstGeom prst="roundRect">
            <a:avLst>
              <a:gd name="adj" fmla="val 10000"/>
            </a:avLst>
          </a:prstGeom>
          <a:solidFill>
            <a:srgbClr val="FFFFFF"/>
          </a:solidFill>
          <a:ln w="12700">
            <a:solidFill>
              <a:srgbClr val="DCE4EC"/>
            </a:solidFill>
            <a:prstDash val="solid"/>
          </a:ln>
        </p:spPr>
      </p:sp>
      <p:sp>
        <p:nvSpPr>
          <p:cNvPr id="22" name="Shape 20"/>
          <p:cNvSpPr/>
          <p:nvPr/>
        </p:nvSpPr>
        <p:spPr>
          <a:xfrm>
            <a:off x="731520" y="5038344"/>
            <a:ext cx="329184" cy="329184"/>
          </a:xfrm>
          <a:prstGeom prst="ellipse">
            <a:avLst/>
          </a:prstGeom>
          <a:solidFill>
            <a:srgbClr val="004C8F"/>
          </a:solidFill>
          <a:ln/>
        </p:spPr>
      </p:sp>
      <p:sp>
        <p:nvSpPr>
          <p:cNvPr id="23" name="Text 21"/>
          <p:cNvSpPr txBox="1"/>
          <p:nvPr/>
        </p:nvSpPr>
        <p:spPr>
          <a:xfrm>
            <a:off x="731520" y="50383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txBox="1"/>
          <p:nvPr/>
        </p:nvSpPr>
        <p:spPr>
          <a:xfrm>
            <a:off x="1234440" y="4928616"/>
            <a:ext cx="6309360" cy="548640"/>
          </a:xfrm>
          <a:prstGeom prst="rect">
            <a:avLst/>
          </a:prstGeom>
          <a:noFill/>
          <a:ln/>
        </p:spPr>
        <p:txBody>
          <a:bodyPr wrap="square" lIns="0" tIns="0" rIns="0" bIns="0" rtlCol="0" anchor="ctr"/>
          <a:lstStyle/>
          <a:p>
            <a:pPr marL="0" indent="0">
              <a:lnSpc>
                <a:spcPts val="1400"/>
              </a:lnSpc>
              <a:buNone/>
            </a:pPr>
            <a:r>
              <a:rPr lang="en-US" sz="1150" i="1" dirty="0">
                <a:solidFill>
                  <a:srgbClr val="0A2540"/>
                </a:solidFill>
                <a:latin typeface="Calibri" pitchFamily="34" charset="0"/>
                <a:ea typeface="Calibri" pitchFamily="34" charset="-122"/>
                <a:cs typeface="Calibri" pitchFamily="34" charset="-120"/>
              </a:rPr>
              <a:t>“HDFC Bank number of customers branches FY2026 annual results total deposits”</a:t>
            </a:r>
            <a:endParaRPr lang="en-US" sz="1150" dirty="0"/>
          </a:p>
        </p:txBody>
      </p:sp>
      <p:sp>
        <p:nvSpPr>
          <p:cNvPr id="25" name="Text 23"/>
          <p:cNvSpPr txBox="1"/>
          <p:nvPr/>
        </p:nvSpPr>
        <p:spPr>
          <a:xfrm>
            <a:off x="7680960" y="4928616"/>
            <a:ext cx="3749040" cy="548640"/>
          </a:xfrm>
          <a:prstGeom prst="rect">
            <a:avLst/>
          </a:prstGeom>
          <a:noFill/>
          <a:ln/>
        </p:spPr>
        <p:txBody>
          <a:bodyPr wrap="square" lIns="0" tIns="0" rIns="0" bIns="0" rtlCol="0" anchor="ctr"/>
          <a:lstStyle/>
          <a:p>
            <a:pPr marL="0" indent="0">
              <a:lnSpc>
                <a:spcPts val="1400"/>
              </a:lnSpc>
              <a:buNone/>
            </a:pPr>
            <a:r>
              <a:rPr lang="en-US" sz="1050" dirty="0">
                <a:solidFill>
                  <a:srgbClr val="5A6B7C"/>
                </a:solidFill>
                <a:latin typeface="Calibri" pitchFamily="34" charset="0"/>
                <a:ea typeface="Calibri" pitchFamily="34" charset="-122"/>
                <a:cs typeface="Calibri" pitchFamily="34" charset="-120"/>
              </a:rPr>
              <a:t>Verify company scale from a primary source</a:t>
            </a:r>
            <a:endParaRPr lang="en-US" sz="1050" dirty="0"/>
          </a:p>
        </p:txBody>
      </p:sp>
      <p:sp>
        <p:nvSpPr>
          <p:cNvPr id="26" name="Shape 24"/>
          <p:cNvSpPr/>
          <p:nvPr/>
        </p:nvSpPr>
        <p:spPr>
          <a:xfrm>
            <a:off x="5870448" y="1508760"/>
            <a:ext cx="5769864" cy="1170432"/>
          </a:xfrm>
          <a:prstGeom prst="roundRect">
            <a:avLst>
              <a:gd name="adj" fmla="val 6250"/>
            </a:avLst>
          </a:prstGeom>
          <a:solidFill>
            <a:srgbClr val="0A2540"/>
          </a:solidFill>
          <a:ln w="12700">
            <a:solidFill>
              <a:srgbClr val="0A2540"/>
            </a:solidFill>
            <a:prstDash val="solid"/>
          </a:ln>
        </p:spPr>
      </p:sp>
      <p:sp>
        <p:nvSpPr>
          <p:cNvPr id="27" name="Text 25"/>
          <p:cNvSpPr txBox="1"/>
          <p:nvPr/>
        </p:nvSpPr>
        <p:spPr>
          <a:xfrm>
            <a:off x="6144768" y="1691640"/>
            <a:ext cx="5257800" cy="868680"/>
          </a:xfrm>
          <a:prstGeom prst="rect">
            <a:avLst/>
          </a:prstGeom>
          <a:noFill/>
          <a:ln/>
        </p:spPr>
        <p:txBody>
          <a:bodyPr wrap="square" lIns="0" tIns="0" rIns="0" bIns="0" rtlCol="0" anchor="ctr"/>
          <a:lstStyle/>
          <a:p>
            <a:pPr marL="0" indent="0">
              <a:lnSpc>
                <a:spcPts val="1700"/>
              </a:lnSpc>
              <a:buNone/>
            </a:pPr>
            <a:r>
              <a:rPr lang="en-US" sz="1200" i="1" dirty="0">
                <a:solidFill>
                  <a:srgbClr val="FFFFFF"/>
                </a:solidFill>
                <a:latin typeface="Calibri" pitchFamily="34" charset="0"/>
                <a:ea typeface="Calibri" pitchFamily="34" charset="-122"/>
                <a:cs typeface="Calibri" pitchFamily="34" charset="-120"/>
              </a:rPr>
              <a:t>Only one tool was used for this project — stated plainly rather than implying multi-tool use that didn't happen.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9509760" cy="548640"/>
          </a:xfrm>
          <a:prstGeom prst="rect">
            <a:avLst/>
          </a:prstGeom>
          <a:noFill/>
          <a:ln/>
        </p:spPr>
        <p:txBody>
          <a:bodyPr wrap="square" lIns="0" tIns="0" rIns="0" bIns="0" rtlCol="0" anchor="ctr"/>
          <a:lstStyle/>
          <a:p>
            <a:pPr marL="0" indent="0">
              <a:buNone/>
            </a:pPr>
            <a:r>
              <a:rPr lang="en-US" sz="3200" b="1" dirty="0">
                <a:solidFill>
                  <a:srgbClr val="0A2540"/>
                </a:solidFill>
                <a:latin typeface="Cambria" pitchFamily="34" charset="0"/>
                <a:ea typeface="Cambria" pitchFamily="34" charset="-122"/>
                <a:cs typeface="Cambria" pitchFamily="34" charset="-120"/>
              </a:rPr>
              <a:t>Prompt Improvement &amp; AI Evaluation</a:t>
            </a:r>
            <a:endParaRPr lang="en-US" sz="3200" dirty="0"/>
          </a:p>
        </p:txBody>
      </p:sp>
      <p:sp>
        <p:nvSpPr>
          <p:cNvPr id="3" name="Text 1"/>
          <p:cNvSpPr txBox="1"/>
          <p:nvPr/>
        </p:nvSpPr>
        <p:spPr>
          <a:xfrm>
            <a:off x="548640" y="950976"/>
            <a:ext cx="9509760" cy="292608"/>
          </a:xfrm>
          <a:prstGeom prst="rect">
            <a:avLst/>
          </a:prstGeom>
          <a:noFill/>
          <a:ln/>
        </p:spPr>
        <p:txBody>
          <a:bodyPr wrap="square" lIns="0" tIns="0" rIns="0" bIns="0" rtlCol="0" anchor="ctr"/>
          <a:lstStyle/>
          <a:p>
            <a:pPr marL="0" indent="0">
              <a:buNone/>
            </a:pPr>
            <a:r>
              <a:rPr lang="en-US" sz="1300" i="1" dirty="0">
                <a:solidFill>
                  <a:srgbClr val="5A6B7C"/>
                </a:solidFill>
                <a:latin typeface="Calibri" pitchFamily="34" charset="0"/>
                <a:ea typeface="Calibri" pitchFamily="34" charset="-122"/>
                <a:cs typeface="Calibri" pitchFamily="34" charset="-120"/>
              </a:rPr>
              <a:t>How a sharper prompt changed the quality of the research</a:t>
            </a:r>
            <a:endParaRPr lang="en-US" sz="1300" dirty="0"/>
          </a:p>
        </p:txBody>
      </p:sp>
      <p:sp>
        <p:nvSpPr>
          <p:cNvPr id="4" name="Shape 2"/>
          <p:cNvSpPr/>
          <p:nvPr/>
        </p:nvSpPr>
        <p:spPr>
          <a:xfrm>
            <a:off x="11109960" y="384048"/>
            <a:ext cx="566928" cy="566928"/>
          </a:xfrm>
          <a:prstGeom prst="ellipse">
            <a:avLst/>
          </a:prstGeom>
          <a:solidFill>
            <a:srgbClr val="F1F5F9"/>
          </a:solidFill>
          <a:ln/>
        </p:spPr>
      </p:sp>
      <p:sp>
        <p:nvSpPr>
          <p:cNvPr id="5" name="Text 3"/>
          <p:cNvSpPr txBox="1"/>
          <p:nvPr/>
        </p:nvSpPr>
        <p:spPr>
          <a:xfrm>
            <a:off x="11109960" y="384048"/>
            <a:ext cx="566928" cy="566928"/>
          </a:xfrm>
          <a:prstGeom prst="rect">
            <a:avLst/>
          </a:prstGeom>
          <a:noFill/>
          <a:ln/>
        </p:spPr>
        <p:txBody>
          <a:bodyPr wrap="square" lIns="0" tIns="0" rIns="0" bIns="0" rtlCol="0" anchor="ctr"/>
          <a:lstStyle/>
          <a:p>
            <a:pPr marL="0" indent="0" algn="ctr">
              <a:buNone/>
            </a:pPr>
            <a:r>
              <a:rPr lang="en-US" sz="1600" b="1" dirty="0">
                <a:solidFill>
                  <a:srgbClr val="004C8F"/>
                </a:solidFill>
                <a:latin typeface="Cambria" pitchFamily="34" charset="0"/>
                <a:ea typeface="Cambria" pitchFamily="34" charset="-122"/>
                <a:cs typeface="Cambria" pitchFamily="34" charset="-120"/>
              </a:rPr>
              <a:t>10</a:t>
            </a:r>
            <a:endParaRPr lang="en-US" sz="1600" dirty="0"/>
          </a:p>
        </p:txBody>
      </p:sp>
      <p:sp>
        <p:nvSpPr>
          <p:cNvPr id="6" name="Shape 4"/>
          <p:cNvSpPr/>
          <p:nvPr/>
        </p:nvSpPr>
        <p:spPr>
          <a:xfrm>
            <a:off x="548640" y="1508760"/>
            <a:ext cx="5349240" cy="1554480"/>
          </a:xfrm>
          <a:prstGeom prst="roundRect">
            <a:avLst>
              <a:gd name="adj" fmla="val 4706"/>
            </a:avLst>
          </a:prstGeom>
          <a:solidFill>
            <a:srgbClr val="FDF2F2"/>
          </a:solidFill>
          <a:ln w="12700">
            <a:solidFill>
              <a:srgbClr val="F5C6C7"/>
            </a:solidFill>
            <a:prstDash val="solid"/>
          </a:ln>
        </p:spPr>
      </p:sp>
      <p:sp>
        <p:nvSpPr>
          <p:cNvPr id="7" name="Text 5"/>
          <p:cNvSpPr txBox="1"/>
          <p:nvPr/>
        </p:nvSpPr>
        <p:spPr>
          <a:xfrm>
            <a:off x="822960" y="1664208"/>
            <a:ext cx="3657600" cy="256032"/>
          </a:xfrm>
          <a:prstGeom prst="rect">
            <a:avLst/>
          </a:prstGeom>
          <a:noFill/>
          <a:ln/>
        </p:spPr>
        <p:txBody>
          <a:bodyPr wrap="square" lIns="0" tIns="0" rIns="0" bIns="0" rtlCol="0" anchor="ctr"/>
          <a:lstStyle/>
          <a:p>
            <a:pPr marL="0" indent="0">
              <a:buNone/>
            </a:pPr>
            <a:r>
              <a:rPr lang="en-US" sz="1100" b="1" kern="0" spc="200" dirty="0">
                <a:solidFill>
                  <a:srgbClr val="8B1F24"/>
                </a:solidFill>
                <a:latin typeface="Calibri" pitchFamily="34" charset="0"/>
                <a:ea typeface="Calibri" pitchFamily="34" charset="-122"/>
                <a:cs typeface="Calibri" pitchFamily="34" charset="-120"/>
              </a:rPr>
              <a:t>BASIC PROMPT</a:t>
            </a:r>
            <a:endParaRPr lang="en-US" sz="1100" dirty="0"/>
          </a:p>
        </p:txBody>
      </p:sp>
      <p:sp>
        <p:nvSpPr>
          <p:cNvPr id="8" name="Text 6"/>
          <p:cNvSpPr txBox="1"/>
          <p:nvPr/>
        </p:nvSpPr>
        <p:spPr>
          <a:xfrm>
            <a:off x="822960" y="1965960"/>
            <a:ext cx="4800600" cy="457200"/>
          </a:xfrm>
          <a:prstGeom prst="rect">
            <a:avLst/>
          </a:prstGeom>
          <a:noFill/>
          <a:ln/>
        </p:spPr>
        <p:txBody>
          <a:bodyPr wrap="square" lIns="0" tIns="0" rIns="0" bIns="0" rtlCol="0" anchor="ctr"/>
          <a:lstStyle/>
          <a:p>
            <a:pPr marL="0" indent="0">
              <a:buNone/>
            </a:pPr>
            <a:r>
              <a:rPr lang="en-US" sz="1300" i="1" dirty="0">
                <a:solidFill>
                  <a:srgbClr val="0A2540"/>
                </a:solidFill>
                <a:latin typeface="Calibri" pitchFamily="34" charset="0"/>
                <a:ea typeface="Calibri" pitchFamily="34" charset="-122"/>
                <a:cs typeface="Calibri" pitchFamily="34" charset="-120"/>
              </a:rPr>
              <a:t>“HDFC Bank AI fraud detection machine learning”</a:t>
            </a:r>
            <a:endParaRPr lang="en-US" sz="1300" dirty="0"/>
          </a:p>
        </p:txBody>
      </p:sp>
      <p:sp>
        <p:nvSpPr>
          <p:cNvPr id="9" name="Text 7"/>
          <p:cNvSpPr txBox="1"/>
          <p:nvPr/>
        </p:nvSpPr>
        <p:spPr>
          <a:xfrm>
            <a:off x="822960" y="2450592"/>
            <a:ext cx="4800600" cy="548640"/>
          </a:xfrm>
          <a:prstGeom prst="rect">
            <a:avLst/>
          </a:prstGeom>
          <a:noFill/>
          <a:ln/>
        </p:spPr>
        <p:txBody>
          <a:bodyPr wrap="square" lIns="0" tIns="0" rIns="0" bIns="0" rtlCol="0" anchor="ctr"/>
          <a:lstStyle/>
          <a:p>
            <a:pPr marL="0" indent="0">
              <a:lnSpc>
                <a:spcPts val="1400"/>
              </a:lnSpc>
              <a:buNone/>
            </a:pPr>
            <a:r>
              <a:rPr lang="en-US" sz="1050" dirty="0">
                <a:solidFill>
                  <a:srgbClr val="6B4A4C"/>
                </a:solidFill>
                <a:latin typeface="Calibri" pitchFamily="34" charset="0"/>
                <a:ea typeface="Calibri" pitchFamily="34" charset="-122"/>
                <a:cs typeface="Calibri" pitchFamily="34" charset="-120"/>
              </a:rPr>
              <a:t>Returned marketing-style blogs describing “behavioural biometrics” and “instant blocking” with no citations and no way to verify the claims.</a:t>
            </a:r>
            <a:endParaRPr lang="en-US" sz="1050" dirty="0"/>
          </a:p>
        </p:txBody>
      </p:sp>
      <p:sp>
        <p:nvSpPr>
          <p:cNvPr id="10" name="Shape 8"/>
          <p:cNvSpPr/>
          <p:nvPr/>
        </p:nvSpPr>
        <p:spPr>
          <a:xfrm>
            <a:off x="6108192" y="1508760"/>
            <a:ext cx="5349240" cy="1554480"/>
          </a:xfrm>
          <a:prstGeom prst="roundRect">
            <a:avLst>
              <a:gd name="adj" fmla="val 4706"/>
            </a:avLst>
          </a:prstGeom>
          <a:solidFill>
            <a:srgbClr val="EEF6F1"/>
          </a:solidFill>
          <a:ln w="12700">
            <a:solidFill>
              <a:srgbClr val="BFE0CC"/>
            </a:solidFill>
            <a:prstDash val="solid"/>
          </a:ln>
        </p:spPr>
      </p:sp>
      <p:sp>
        <p:nvSpPr>
          <p:cNvPr id="11" name="Text 9"/>
          <p:cNvSpPr txBox="1"/>
          <p:nvPr/>
        </p:nvSpPr>
        <p:spPr>
          <a:xfrm>
            <a:off x="6382512" y="1664208"/>
            <a:ext cx="3657600" cy="256032"/>
          </a:xfrm>
          <a:prstGeom prst="rect">
            <a:avLst/>
          </a:prstGeom>
          <a:noFill/>
          <a:ln/>
        </p:spPr>
        <p:txBody>
          <a:bodyPr wrap="square" lIns="0" tIns="0" rIns="0" bIns="0" rtlCol="0" anchor="ctr"/>
          <a:lstStyle/>
          <a:p>
            <a:pPr marL="0" indent="0">
              <a:buNone/>
            </a:pPr>
            <a:r>
              <a:rPr lang="en-US" sz="1100" b="1" kern="0" spc="200" dirty="0">
                <a:solidFill>
                  <a:srgbClr val="1E6B3C"/>
                </a:solidFill>
                <a:latin typeface="Calibri" pitchFamily="34" charset="0"/>
                <a:ea typeface="Calibri" pitchFamily="34" charset="-122"/>
                <a:cs typeface="Calibri" pitchFamily="34" charset="-120"/>
              </a:rPr>
              <a:t>IMPROVED PROMPT</a:t>
            </a:r>
            <a:endParaRPr lang="en-US" sz="1100" dirty="0"/>
          </a:p>
        </p:txBody>
      </p:sp>
      <p:sp>
        <p:nvSpPr>
          <p:cNvPr id="12" name="Text 10"/>
          <p:cNvSpPr txBox="1"/>
          <p:nvPr/>
        </p:nvSpPr>
        <p:spPr>
          <a:xfrm>
            <a:off x="6382512" y="1965960"/>
            <a:ext cx="4800600" cy="457200"/>
          </a:xfrm>
          <a:prstGeom prst="rect">
            <a:avLst/>
          </a:prstGeom>
          <a:noFill/>
          <a:ln/>
        </p:spPr>
        <p:txBody>
          <a:bodyPr wrap="square" lIns="0" tIns="0" rIns="0" bIns="0" rtlCol="0" anchor="ctr"/>
          <a:lstStyle/>
          <a:p>
            <a:pPr marL="0" indent="0">
              <a:buNone/>
            </a:pPr>
            <a:r>
              <a:rPr lang="en-US" sz="1300" i="1" dirty="0">
                <a:solidFill>
                  <a:srgbClr val="0A2540"/>
                </a:solidFill>
                <a:latin typeface="Calibri" pitchFamily="34" charset="0"/>
                <a:ea typeface="Calibri" pitchFamily="34" charset="-122"/>
                <a:cs typeface="Calibri" pitchFamily="34" charset="-120"/>
              </a:rPr>
              <a:t>“RBI annual report bank frauds amount FY2025 digital payment fraud India statistics”</a:t>
            </a:r>
            <a:endParaRPr lang="en-US" sz="1300" dirty="0"/>
          </a:p>
        </p:txBody>
      </p:sp>
      <p:sp>
        <p:nvSpPr>
          <p:cNvPr id="13" name="Text 11"/>
          <p:cNvSpPr txBox="1"/>
          <p:nvPr/>
        </p:nvSpPr>
        <p:spPr>
          <a:xfrm>
            <a:off x="6382512" y="2450592"/>
            <a:ext cx="4800600" cy="548640"/>
          </a:xfrm>
          <a:prstGeom prst="rect">
            <a:avLst/>
          </a:prstGeom>
          <a:noFill/>
          <a:ln/>
        </p:spPr>
        <p:txBody>
          <a:bodyPr wrap="square" lIns="0" tIns="0" rIns="0" bIns="0" rtlCol="0" anchor="ctr"/>
          <a:lstStyle/>
          <a:p>
            <a:pPr marL="0" indent="0">
              <a:lnSpc>
                <a:spcPts val="1400"/>
              </a:lnSpc>
              <a:buNone/>
            </a:pPr>
            <a:r>
              <a:rPr lang="en-US" sz="1050" dirty="0">
                <a:solidFill>
                  <a:srgbClr val="2B5940"/>
                </a:solidFill>
                <a:latin typeface="Calibri" pitchFamily="34" charset="0"/>
                <a:ea typeface="Calibri" pitchFamily="34" charset="-122"/>
                <a:cs typeface="Calibri" pitchFamily="34" charset="-120"/>
              </a:rPr>
              <a:t>Named the authoritative source (RBI) and asked for numbers instead of a description — returned citable, verifiable figures.</a:t>
            </a:r>
            <a:endParaRPr lang="en-US" sz="1050" dirty="0"/>
          </a:p>
        </p:txBody>
      </p:sp>
      <p:sp>
        <p:nvSpPr>
          <p:cNvPr id="14" name="Shape 12"/>
          <p:cNvSpPr/>
          <p:nvPr/>
        </p:nvSpPr>
        <p:spPr>
          <a:xfrm>
            <a:off x="5742432" y="2103120"/>
            <a:ext cx="365760" cy="320040"/>
          </a:xfrm>
          <a:prstGeom prst="rightArrow">
            <a:avLst/>
          </a:prstGeom>
          <a:solidFill>
            <a:srgbClr val="004C8F"/>
          </a:solidFill>
          <a:ln/>
        </p:spPr>
      </p:sp>
      <p:sp>
        <p:nvSpPr>
          <p:cNvPr id="15" name="Text 13"/>
          <p:cNvSpPr txBox="1"/>
          <p:nvPr/>
        </p:nvSpPr>
        <p:spPr>
          <a:xfrm>
            <a:off x="548640" y="3337560"/>
            <a:ext cx="7315200" cy="292608"/>
          </a:xfrm>
          <a:prstGeom prst="rect">
            <a:avLst/>
          </a:prstGeom>
          <a:noFill/>
          <a:ln/>
        </p:spPr>
        <p:txBody>
          <a:bodyPr wrap="square" lIns="0" tIns="0" rIns="0" bIns="0"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Why the improved prompt produced a better result</a:t>
            </a:r>
            <a:endParaRPr lang="en-US" sz="1400" dirty="0"/>
          </a:p>
        </p:txBody>
      </p:sp>
      <p:sp>
        <p:nvSpPr>
          <p:cNvPr id="16" name="Text 14"/>
          <p:cNvSpPr txBox="1"/>
          <p:nvPr/>
        </p:nvSpPr>
        <p:spPr>
          <a:xfrm>
            <a:off x="548640" y="3675888"/>
            <a:ext cx="10881360" cy="457200"/>
          </a:xfrm>
          <a:prstGeom prst="rect">
            <a:avLst/>
          </a:prstGeom>
          <a:noFill/>
          <a:ln/>
        </p:spPr>
        <p:txBody>
          <a:bodyPr wrap="square" lIns="0" tIns="0" rIns="0" bIns="0" rtlCol="0" anchor="ctr"/>
          <a:lstStyle/>
          <a:p>
            <a:pPr marL="0" indent="0">
              <a:lnSpc>
                <a:spcPts val="1600"/>
              </a:lnSpc>
              <a:buNone/>
            </a:pPr>
            <a:r>
              <a:rPr lang="en-US" sz="1200" dirty="0">
                <a:solidFill>
                  <a:srgbClr val="3D4C5A"/>
                </a:solidFill>
                <a:latin typeface="Calibri" pitchFamily="34" charset="0"/>
                <a:ea typeface="Calibri" pitchFamily="34" charset="-122"/>
                <a:cs typeface="Calibri" pitchFamily="34" charset="-120"/>
              </a:rPr>
              <a:t>Naming a specific, authoritative source and asking for data — instead of a general topic and a description — moved the research from anecdotal claims to citable evidence.</a:t>
            </a:r>
            <a:endParaRPr lang="en-US" sz="1200" dirty="0"/>
          </a:p>
        </p:txBody>
      </p:sp>
      <p:sp>
        <p:nvSpPr>
          <p:cNvPr id="17" name="Text 15"/>
          <p:cNvSpPr txBox="1"/>
          <p:nvPr/>
        </p:nvSpPr>
        <p:spPr>
          <a:xfrm>
            <a:off x="548640" y="4297680"/>
            <a:ext cx="7315200" cy="292608"/>
          </a:xfrm>
          <a:prstGeom prst="rect">
            <a:avLst/>
          </a:prstGeom>
          <a:noFill/>
          <a:ln/>
        </p:spPr>
        <p:txBody>
          <a:bodyPr wrap="square" lIns="0" tIns="0" rIns="0" bIns="0"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Critical evaluation of AI-generated output</a:t>
            </a:r>
            <a:endParaRPr lang="en-US" sz="1400" dirty="0"/>
          </a:p>
        </p:txBody>
      </p:sp>
      <p:sp>
        <p:nvSpPr>
          <p:cNvPr id="18" name="Text 16"/>
          <p:cNvSpPr txBox="1"/>
          <p:nvPr/>
        </p:nvSpPr>
        <p:spPr>
          <a:xfrm>
            <a:off x="548640" y="4663440"/>
            <a:ext cx="2103120" cy="457200"/>
          </a:xfrm>
          <a:prstGeom prst="rect">
            <a:avLst/>
          </a:prstGeom>
          <a:noFill/>
          <a:ln/>
        </p:spPr>
        <p:txBody>
          <a:bodyPr wrap="square" lIns="0" tIns="0" rIns="0" bIns="0" rtlCol="0" anchor="ctr"/>
          <a:lstStyle/>
          <a:p>
            <a:pPr marL="0" indent="0">
              <a:buNone/>
            </a:pPr>
            <a:r>
              <a:rPr lang="en-US" sz="1150" b="1" dirty="0">
                <a:solidFill>
                  <a:srgbClr val="ED232A"/>
                </a:solidFill>
                <a:latin typeface="Calibri" pitchFamily="34" charset="0"/>
                <a:ea typeface="Calibri" pitchFamily="34" charset="-122"/>
                <a:cs typeface="Calibri" pitchFamily="34" charset="-120"/>
              </a:rPr>
              <a:t>Problem found:</a:t>
            </a:r>
            <a:endParaRPr lang="en-US" sz="1150" dirty="0"/>
          </a:p>
        </p:txBody>
      </p:sp>
      <p:sp>
        <p:nvSpPr>
          <p:cNvPr id="19" name="Text 17"/>
          <p:cNvSpPr txBox="1"/>
          <p:nvPr/>
        </p:nvSpPr>
        <p:spPr>
          <a:xfrm>
            <a:off x="2697480" y="4663440"/>
            <a:ext cx="8732520" cy="502920"/>
          </a:xfrm>
          <a:prstGeom prst="rect">
            <a:avLst/>
          </a:prstGeom>
          <a:noFill/>
          <a:ln/>
        </p:spPr>
        <p:txBody>
          <a:bodyPr wrap="square" lIns="0" tIns="0" rIns="0" bIns="0" rtlCol="0" anchor="ctr"/>
          <a:lstStyle/>
          <a:p>
            <a:pPr marL="0" indent="0">
              <a:lnSpc>
                <a:spcPts val="1400"/>
              </a:lnSpc>
              <a:buNone/>
            </a:pPr>
            <a:r>
              <a:rPr lang="en-US" sz="1100" dirty="0">
                <a:solidFill>
                  <a:srgbClr val="3D4C5A"/>
                </a:solidFill>
                <a:latin typeface="Calibri" pitchFamily="34" charset="0"/>
                <a:ea typeface="Calibri" pitchFamily="34" charset="-122"/>
                <a:cs typeface="Calibri" pitchFamily="34" charset="-120"/>
              </a:rPr>
              <a:t>Two search results claimed specific HDFC fraud-detection features (“behavioural biometrics”) with no source from the bank itself.</a:t>
            </a:r>
            <a:endParaRPr lang="en-US" sz="1100" dirty="0"/>
          </a:p>
        </p:txBody>
      </p:sp>
      <p:sp>
        <p:nvSpPr>
          <p:cNvPr id="20" name="Text 18"/>
          <p:cNvSpPr txBox="1"/>
          <p:nvPr/>
        </p:nvSpPr>
        <p:spPr>
          <a:xfrm>
            <a:off x="548640" y="5230368"/>
            <a:ext cx="2103120" cy="457200"/>
          </a:xfrm>
          <a:prstGeom prst="rect">
            <a:avLst/>
          </a:prstGeom>
          <a:noFill/>
          <a:ln/>
        </p:spPr>
        <p:txBody>
          <a:bodyPr wrap="square" lIns="0" tIns="0" rIns="0" bIns="0" rtlCol="0" anchor="ctr"/>
          <a:lstStyle/>
          <a:p>
            <a:pPr marL="0" indent="0">
              <a:buNone/>
            </a:pPr>
            <a:r>
              <a:rPr lang="en-US" sz="1150" b="1" dirty="0">
                <a:solidFill>
                  <a:srgbClr val="ED232A"/>
                </a:solidFill>
                <a:latin typeface="Calibri" pitchFamily="34" charset="0"/>
                <a:ea typeface="Calibri" pitchFamily="34" charset="-122"/>
                <a:cs typeface="Calibri" pitchFamily="34" charset="-120"/>
              </a:rPr>
              <a:t>Verified against:</a:t>
            </a:r>
            <a:endParaRPr lang="en-US" sz="1150" dirty="0"/>
          </a:p>
        </p:txBody>
      </p:sp>
      <p:sp>
        <p:nvSpPr>
          <p:cNvPr id="21" name="Text 19"/>
          <p:cNvSpPr txBox="1"/>
          <p:nvPr/>
        </p:nvSpPr>
        <p:spPr>
          <a:xfrm>
            <a:off x="2697480" y="5230368"/>
            <a:ext cx="8732520" cy="502920"/>
          </a:xfrm>
          <a:prstGeom prst="rect">
            <a:avLst/>
          </a:prstGeom>
          <a:noFill/>
          <a:ln/>
        </p:spPr>
        <p:txBody>
          <a:bodyPr wrap="square" lIns="0" tIns="0" rIns="0" bIns="0" rtlCol="0" anchor="ctr"/>
          <a:lstStyle/>
          <a:p>
            <a:pPr marL="0" indent="0">
              <a:lnSpc>
                <a:spcPts val="1400"/>
              </a:lnSpc>
              <a:buNone/>
            </a:pPr>
            <a:r>
              <a:rPr lang="en-US" sz="1100" dirty="0">
                <a:solidFill>
                  <a:srgbClr val="3D4C5A"/>
                </a:solidFill>
                <a:latin typeface="Calibri" pitchFamily="34" charset="0"/>
                <a:ea typeface="Calibri" pitchFamily="34" charset="-122"/>
                <a:cs typeface="Calibri" pitchFamily="34" charset="-120"/>
              </a:rPr>
              <a:t>HDFC Bank's own Form 20-F (FY2026) — which discusses risk management in general terms but does not confirm these specific techniques.</a:t>
            </a:r>
            <a:endParaRPr lang="en-US" sz="1100" dirty="0"/>
          </a:p>
        </p:txBody>
      </p:sp>
      <p:sp>
        <p:nvSpPr>
          <p:cNvPr id="22" name="Text 20"/>
          <p:cNvSpPr txBox="1"/>
          <p:nvPr/>
        </p:nvSpPr>
        <p:spPr>
          <a:xfrm>
            <a:off x="548640" y="5797296"/>
            <a:ext cx="2103120" cy="457200"/>
          </a:xfrm>
          <a:prstGeom prst="rect">
            <a:avLst/>
          </a:prstGeom>
          <a:noFill/>
          <a:ln/>
        </p:spPr>
        <p:txBody>
          <a:bodyPr wrap="square" lIns="0" tIns="0" rIns="0" bIns="0" rtlCol="0" anchor="ctr"/>
          <a:lstStyle/>
          <a:p>
            <a:pPr marL="0" indent="0">
              <a:buNone/>
            </a:pPr>
            <a:r>
              <a:rPr lang="en-US" sz="1150" b="1" dirty="0">
                <a:solidFill>
                  <a:srgbClr val="ED232A"/>
                </a:solidFill>
                <a:latin typeface="Calibri" pitchFamily="34" charset="0"/>
                <a:ea typeface="Calibri" pitchFamily="34" charset="-122"/>
                <a:cs typeface="Calibri" pitchFamily="34" charset="-120"/>
              </a:rPr>
              <a:t>Process improved:</a:t>
            </a:r>
            <a:endParaRPr lang="en-US" sz="1150" dirty="0"/>
          </a:p>
        </p:txBody>
      </p:sp>
      <p:sp>
        <p:nvSpPr>
          <p:cNvPr id="23" name="Text 21"/>
          <p:cNvSpPr txBox="1"/>
          <p:nvPr/>
        </p:nvSpPr>
        <p:spPr>
          <a:xfrm>
            <a:off x="2697480" y="5797296"/>
            <a:ext cx="8732520" cy="502920"/>
          </a:xfrm>
          <a:prstGeom prst="rect">
            <a:avLst/>
          </a:prstGeom>
          <a:noFill/>
          <a:ln/>
        </p:spPr>
        <p:txBody>
          <a:bodyPr wrap="square" lIns="0" tIns="0" rIns="0" bIns="0" rtlCol="0" anchor="ctr"/>
          <a:lstStyle/>
          <a:p>
            <a:pPr marL="0" indent="0">
              <a:lnSpc>
                <a:spcPts val="1400"/>
              </a:lnSpc>
              <a:buNone/>
            </a:pPr>
            <a:r>
              <a:rPr lang="en-US" sz="1100" dirty="0">
                <a:solidFill>
                  <a:srgbClr val="3D4C5A"/>
                </a:solidFill>
                <a:latin typeface="Calibri" pitchFamily="34" charset="0"/>
                <a:ea typeface="Calibri" pitchFamily="34" charset="-122"/>
                <a:cs typeface="Calibri" pitchFamily="34" charset="-120"/>
              </a:rPr>
              <a:t>The deck frames these as industry-standard approaches suitable for the problem, not as confirmed HDFC features — and states no invented performance number.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540"/>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686800" cy="5486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Recommendations &amp; Conclusion</a:t>
            </a:r>
            <a:endParaRPr lang="en-US" sz="3200" dirty="0"/>
          </a:p>
        </p:txBody>
      </p:sp>
      <p:sp>
        <p:nvSpPr>
          <p:cNvPr id="3" name="Text 1"/>
          <p:cNvSpPr txBox="1"/>
          <p:nvPr/>
        </p:nvSpPr>
        <p:spPr>
          <a:xfrm>
            <a:off x="548640" y="1024128"/>
            <a:ext cx="8686800" cy="274320"/>
          </a:xfrm>
          <a:prstGeom prst="rect">
            <a:avLst/>
          </a:prstGeom>
          <a:noFill/>
          <a:ln/>
        </p:spPr>
        <p:txBody>
          <a:bodyPr wrap="square" lIns="0" tIns="0" rIns="0" bIns="0" rtlCol="0" anchor="ctr"/>
          <a:lstStyle/>
          <a:p>
            <a:pPr marL="0" indent="0">
              <a:buNone/>
            </a:pPr>
            <a:r>
              <a:rPr lang="en-US" sz="1300" i="1" dirty="0">
                <a:solidFill>
                  <a:srgbClr val="8FB3D9"/>
                </a:solidFill>
                <a:latin typeface="Calibri" pitchFamily="34" charset="0"/>
                <a:ea typeface="Calibri" pitchFamily="34" charset="-122"/>
                <a:cs typeface="Calibri" pitchFamily="34" charset="-120"/>
              </a:rPr>
              <a:t>Advising the management of HDFC Bank</a:t>
            </a:r>
            <a:endParaRPr lang="en-US" sz="1300" dirty="0"/>
          </a:p>
        </p:txBody>
      </p:sp>
      <p:sp>
        <p:nvSpPr>
          <p:cNvPr id="4" name="Shape 2"/>
          <p:cNvSpPr/>
          <p:nvPr/>
        </p:nvSpPr>
        <p:spPr>
          <a:xfrm>
            <a:off x="11109960" y="457200"/>
            <a:ext cx="566928" cy="566928"/>
          </a:xfrm>
          <a:prstGeom prst="ellipse">
            <a:avLst/>
          </a:prstGeom>
          <a:solidFill>
            <a:srgbClr val="004C8F"/>
          </a:solidFill>
          <a:ln/>
        </p:spPr>
      </p:sp>
      <p:sp>
        <p:nvSpPr>
          <p:cNvPr id="5" name="Text 3"/>
          <p:cNvSpPr txBox="1"/>
          <p:nvPr/>
        </p:nvSpPr>
        <p:spPr>
          <a:xfrm>
            <a:off x="11109960" y="45720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11</a:t>
            </a:r>
            <a:endParaRPr lang="en-US" sz="1500" dirty="0"/>
          </a:p>
        </p:txBody>
      </p:sp>
      <p:sp>
        <p:nvSpPr>
          <p:cNvPr id="6" name="Shape 4"/>
          <p:cNvSpPr/>
          <p:nvPr/>
        </p:nvSpPr>
        <p:spPr>
          <a:xfrm>
            <a:off x="548640" y="1645920"/>
            <a:ext cx="384048" cy="384048"/>
          </a:xfrm>
          <a:prstGeom prst="ellipse">
            <a:avLst/>
          </a:prstGeom>
          <a:solidFill>
            <a:srgbClr val="ED232A"/>
          </a:solidFill>
          <a:ln/>
        </p:spPr>
      </p:sp>
      <p:sp>
        <p:nvSpPr>
          <p:cNvPr id="7" name="Text 5"/>
          <p:cNvSpPr txBox="1"/>
          <p:nvPr/>
        </p:nvSpPr>
        <p:spPr>
          <a:xfrm>
            <a:off x="548640" y="16459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78992" y="1600200"/>
            <a:ext cx="484632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Run a hybrid model, not a single one</a:t>
            </a:r>
            <a:endParaRPr lang="en-US" sz="1400" dirty="0"/>
          </a:p>
        </p:txBody>
      </p:sp>
      <p:sp>
        <p:nvSpPr>
          <p:cNvPr id="9" name="Text 7"/>
          <p:cNvSpPr txBox="1"/>
          <p:nvPr/>
        </p:nvSpPr>
        <p:spPr>
          <a:xfrm>
            <a:off x="1078992" y="1929384"/>
            <a:ext cx="4846320" cy="658368"/>
          </a:xfrm>
          <a:prstGeom prst="rect">
            <a:avLst/>
          </a:prstGeom>
          <a:noFill/>
          <a:ln/>
        </p:spPr>
        <p:txBody>
          <a:bodyPr wrap="square" lIns="0" tIns="0" rIns="0" bIns="0" rtlCol="0" anchor="ctr"/>
          <a:lstStyle/>
          <a:p>
            <a:pPr marL="0" indent="0">
              <a:lnSpc>
                <a:spcPts val="1500"/>
              </a:lnSpc>
              <a:buNone/>
            </a:pPr>
            <a:r>
              <a:rPr lang="en-US" sz="1150" dirty="0">
                <a:solidFill>
                  <a:srgbClr val="AFC6DE"/>
                </a:solidFill>
                <a:latin typeface="Calibri" pitchFamily="34" charset="0"/>
                <a:ea typeface="Calibri" pitchFamily="34" charset="-122"/>
                <a:cs typeface="Calibri" pitchFamily="34" charset="-120"/>
              </a:rPr>
              <a:t>Pair a supervised classifier for known fraud types with unsupervised anomaly detection for emerging ones.</a:t>
            </a:r>
            <a:endParaRPr lang="en-US" sz="1150" dirty="0"/>
          </a:p>
        </p:txBody>
      </p:sp>
      <p:sp>
        <p:nvSpPr>
          <p:cNvPr id="10" name="Shape 8"/>
          <p:cNvSpPr/>
          <p:nvPr/>
        </p:nvSpPr>
        <p:spPr>
          <a:xfrm>
            <a:off x="6263640" y="1645920"/>
            <a:ext cx="384048" cy="384048"/>
          </a:xfrm>
          <a:prstGeom prst="ellipse">
            <a:avLst/>
          </a:prstGeom>
          <a:solidFill>
            <a:srgbClr val="ED232A"/>
          </a:solidFill>
          <a:ln/>
        </p:spPr>
      </p:sp>
      <p:sp>
        <p:nvSpPr>
          <p:cNvPr id="11" name="Text 9"/>
          <p:cNvSpPr txBox="1"/>
          <p:nvPr/>
        </p:nvSpPr>
        <p:spPr>
          <a:xfrm>
            <a:off x="6263640" y="16459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793992" y="1600200"/>
            <a:ext cx="484632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Optimise for business cost, not accuracy</a:t>
            </a:r>
            <a:endParaRPr lang="en-US" sz="1400" dirty="0"/>
          </a:p>
        </p:txBody>
      </p:sp>
      <p:sp>
        <p:nvSpPr>
          <p:cNvPr id="13" name="Text 11"/>
          <p:cNvSpPr txBox="1"/>
          <p:nvPr/>
        </p:nvSpPr>
        <p:spPr>
          <a:xfrm>
            <a:off x="6793992" y="1929384"/>
            <a:ext cx="4846320" cy="658368"/>
          </a:xfrm>
          <a:prstGeom prst="rect">
            <a:avLst/>
          </a:prstGeom>
          <a:noFill/>
          <a:ln/>
        </p:spPr>
        <p:txBody>
          <a:bodyPr wrap="square" lIns="0" tIns="0" rIns="0" bIns="0" rtlCol="0" anchor="ctr"/>
          <a:lstStyle/>
          <a:p>
            <a:pPr marL="0" indent="0">
              <a:lnSpc>
                <a:spcPts val="1500"/>
              </a:lnSpc>
              <a:buNone/>
            </a:pPr>
            <a:r>
              <a:rPr lang="en-US" sz="1150" dirty="0">
                <a:solidFill>
                  <a:srgbClr val="AFC6DE"/>
                </a:solidFill>
                <a:latin typeface="Calibri" pitchFamily="34" charset="0"/>
                <a:ea typeface="Calibri" pitchFamily="34" charset="-122"/>
                <a:cs typeface="Calibri" pitchFamily="34" charset="-120"/>
              </a:rPr>
              <a:t>Set thresholds using the rupee cost of a missed fraud against the cost of a false decline.</a:t>
            </a:r>
            <a:endParaRPr lang="en-US" sz="1150" dirty="0"/>
          </a:p>
        </p:txBody>
      </p:sp>
      <p:sp>
        <p:nvSpPr>
          <p:cNvPr id="14" name="Shape 12"/>
          <p:cNvSpPr/>
          <p:nvPr/>
        </p:nvSpPr>
        <p:spPr>
          <a:xfrm>
            <a:off x="548640" y="2834640"/>
            <a:ext cx="384048" cy="384048"/>
          </a:xfrm>
          <a:prstGeom prst="ellipse">
            <a:avLst/>
          </a:prstGeom>
          <a:solidFill>
            <a:srgbClr val="ED232A"/>
          </a:solidFill>
          <a:ln/>
        </p:spPr>
      </p:sp>
      <p:sp>
        <p:nvSpPr>
          <p:cNvPr id="15" name="Text 13"/>
          <p:cNvSpPr txBox="1"/>
          <p:nvPr/>
        </p:nvSpPr>
        <p:spPr>
          <a:xfrm>
            <a:off x="548640" y="28346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078992" y="2788920"/>
            <a:ext cx="484632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Build explainability in from the start</a:t>
            </a:r>
            <a:endParaRPr lang="en-US" sz="1400" dirty="0"/>
          </a:p>
        </p:txBody>
      </p:sp>
      <p:sp>
        <p:nvSpPr>
          <p:cNvPr id="17" name="Text 15"/>
          <p:cNvSpPr txBox="1"/>
          <p:nvPr/>
        </p:nvSpPr>
        <p:spPr>
          <a:xfrm>
            <a:off x="1078992" y="3118104"/>
            <a:ext cx="4846320" cy="658368"/>
          </a:xfrm>
          <a:prstGeom prst="rect">
            <a:avLst/>
          </a:prstGeom>
          <a:noFill/>
          <a:ln/>
        </p:spPr>
        <p:txBody>
          <a:bodyPr wrap="square" lIns="0" tIns="0" rIns="0" bIns="0" rtlCol="0" anchor="ctr"/>
          <a:lstStyle/>
          <a:p>
            <a:pPr marL="0" indent="0">
              <a:lnSpc>
                <a:spcPts val="1500"/>
              </a:lnSpc>
              <a:buNone/>
            </a:pPr>
            <a:r>
              <a:rPr lang="en-US" sz="1150" dirty="0">
                <a:solidFill>
                  <a:srgbClr val="AFC6DE"/>
                </a:solidFill>
                <a:latin typeface="Calibri" pitchFamily="34" charset="0"/>
                <a:ea typeface="Calibri" pitchFamily="34" charset="-122"/>
                <a:cs typeface="Calibri" pitchFamily="34" charset="-120"/>
              </a:rPr>
              <a:t>Every blocked transaction should come with a human-readable reason for the customer and the regulator.</a:t>
            </a:r>
            <a:endParaRPr lang="en-US" sz="1150" dirty="0"/>
          </a:p>
        </p:txBody>
      </p:sp>
      <p:sp>
        <p:nvSpPr>
          <p:cNvPr id="18" name="Shape 16"/>
          <p:cNvSpPr/>
          <p:nvPr/>
        </p:nvSpPr>
        <p:spPr>
          <a:xfrm>
            <a:off x="6263640" y="2834640"/>
            <a:ext cx="384048" cy="384048"/>
          </a:xfrm>
          <a:prstGeom prst="ellipse">
            <a:avLst/>
          </a:prstGeom>
          <a:solidFill>
            <a:srgbClr val="ED232A"/>
          </a:solidFill>
          <a:ln/>
        </p:spPr>
      </p:sp>
      <p:sp>
        <p:nvSpPr>
          <p:cNvPr id="19" name="Text 17"/>
          <p:cNvSpPr txBox="1"/>
          <p:nvPr/>
        </p:nvSpPr>
        <p:spPr>
          <a:xfrm>
            <a:off x="6263640" y="28346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6793992" y="2788920"/>
            <a:ext cx="484632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Audit for fairness every quarter</a:t>
            </a:r>
            <a:endParaRPr lang="en-US" sz="1400" dirty="0"/>
          </a:p>
        </p:txBody>
      </p:sp>
      <p:sp>
        <p:nvSpPr>
          <p:cNvPr id="21" name="Text 19"/>
          <p:cNvSpPr txBox="1"/>
          <p:nvPr/>
        </p:nvSpPr>
        <p:spPr>
          <a:xfrm>
            <a:off x="6793992" y="3118104"/>
            <a:ext cx="4846320" cy="658368"/>
          </a:xfrm>
          <a:prstGeom prst="rect">
            <a:avLst/>
          </a:prstGeom>
          <a:noFill/>
          <a:ln/>
        </p:spPr>
        <p:txBody>
          <a:bodyPr wrap="square" lIns="0" tIns="0" rIns="0" bIns="0" rtlCol="0" anchor="ctr"/>
          <a:lstStyle/>
          <a:p>
            <a:pPr marL="0" indent="0">
              <a:lnSpc>
                <a:spcPts val="1500"/>
              </a:lnSpc>
              <a:buNone/>
            </a:pPr>
            <a:r>
              <a:rPr lang="en-US" sz="1150" dirty="0">
                <a:solidFill>
                  <a:srgbClr val="AFC6DE"/>
                </a:solidFill>
                <a:latin typeface="Calibri" pitchFamily="34" charset="0"/>
                <a:ea typeface="Calibri" pitchFamily="34" charset="-122"/>
                <a:cs typeface="Calibri" pitchFamily="34" charset="-120"/>
              </a:rPr>
              <a:t>Track false-positive rates by region, age and income segment, and act on the gaps.</a:t>
            </a:r>
            <a:endParaRPr lang="en-US" sz="1150" dirty="0"/>
          </a:p>
        </p:txBody>
      </p:sp>
      <p:sp>
        <p:nvSpPr>
          <p:cNvPr id="22" name="Shape 20"/>
          <p:cNvSpPr/>
          <p:nvPr/>
        </p:nvSpPr>
        <p:spPr>
          <a:xfrm>
            <a:off x="548640" y="4023360"/>
            <a:ext cx="384048" cy="384048"/>
          </a:xfrm>
          <a:prstGeom prst="ellipse">
            <a:avLst/>
          </a:prstGeom>
          <a:solidFill>
            <a:srgbClr val="ED232A"/>
          </a:solidFill>
          <a:ln/>
        </p:spPr>
      </p:sp>
      <p:sp>
        <p:nvSpPr>
          <p:cNvPr id="23" name="Text 21"/>
          <p:cNvSpPr txBox="1"/>
          <p:nvPr/>
        </p:nvSpPr>
        <p:spPr>
          <a:xfrm>
            <a:off x="548640" y="40233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078992" y="3977640"/>
            <a:ext cx="484632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Keep investigators in the loop</a:t>
            </a:r>
            <a:endParaRPr lang="en-US" sz="1400" dirty="0"/>
          </a:p>
        </p:txBody>
      </p:sp>
      <p:sp>
        <p:nvSpPr>
          <p:cNvPr id="25" name="Text 23"/>
          <p:cNvSpPr txBox="1"/>
          <p:nvPr/>
        </p:nvSpPr>
        <p:spPr>
          <a:xfrm>
            <a:off x="1078992" y="4306824"/>
            <a:ext cx="4846320" cy="658368"/>
          </a:xfrm>
          <a:prstGeom prst="rect">
            <a:avLst/>
          </a:prstGeom>
          <a:noFill/>
          <a:ln/>
        </p:spPr>
        <p:txBody>
          <a:bodyPr wrap="square" lIns="0" tIns="0" rIns="0" bIns="0" rtlCol="0" anchor="ctr"/>
          <a:lstStyle/>
          <a:p>
            <a:pPr marL="0" indent="0">
              <a:lnSpc>
                <a:spcPts val="1500"/>
              </a:lnSpc>
              <a:buNone/>
            </a:pPr>
            <a:r>
              <a:rPr lang="en-US" sz="1150" dirty="0">
                <a:solidFill>
                  <a:srgbClr val="AFC6DE"/>
                </a:solidFill>
                <a:latin typeface="Calibri" pitchFamily="34" charset="0"/>
                <a:ea typeface="Calibri" pitchFamily="34" charset="-122"/>
                <a:cs typeface="Calibri" pitchFamily="34" charset="-120"/>
              </a:rPr>
              <a:t>Use AI to prioritise the queue, not to replace judgement on high-value cases.</a:t>
            </a:r>
            <a:endParaRPr lang="en-US" sz="1150" dirty="0"/>
          </a:p>
        </p:txBody>
      </p:sp>
      <p:sp>
        <p:nvSpPr>
          <p:cNvPr id="26" name="Shape 24"/>
          <p:cNvSpPr/>
          <p:nvPr/>
        </p:nvSpPr>
        <p:spPr>
          <a:xfrm>
            <a:off x="6263640" y="4023360"/>
            <a:ext cx="384048" cy="384048"/>
          </a:xfrm>
          <a:prstGeom prst="ellipse">
            <a:avLst/>
          </a:prstGeom>
          <a:solidFill>
            <a:srgbClr val="ED232A"/>
          </a:solidFill>
          <a:ln/>
        </p:spPr>
      </p:sp>
      <p:sp>
        <p:nvSpPr>
          <p:cNvPr id="27" name="Text 25"/>
          <p:cNvSpPr txBox="1"/>
          <p:nvPr/>
        </p:nvSpPr>
        <p:spPr>
          <a:xfrm>
            <a:off x="6263640" y="40233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6793992" y="3977640"/>
            <a:ext cx="484632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Close the feedback loop</a:t>
            </a:r>
            <a:endParaRPr lang="en-US" sz="1400" dirty="0"/>
          </a:p>
        </p:txBody>
      </p:sp>
      <p:sp>
        <p:nvSpPr>
          <p:cNvPr id="29" name="Text 27"/>
          <p:cNvSpPr txBox="1"/>
          <p:nvPr/>
        </p:nvSpPr>
        <p:spPr>
          <a:xfrm>
            <a:off x="6793992" y="4306824"/>
            <a:ext cx="4846320" cy="658368"/>
          </a:xfrm>
          <a:prstGeom prst="rect">
            <a:avLst/>
          </a:prstGeom>
          <a:noFill/>
          <a:ln/>
        </p:spPr>
        <p:txBody>
          <a:bodyPr wrap="square" lIns="0" tIns="0" rIns="0" bIns="0" rtlCol="0" anchor="ctr"/>
          <a:lstStyle/>
          <a:p>
            <a:pPr marL="0" indent="0">
              <a:lnSpc>
                <a:spcPts val="1500"/>
              </a:lnSpc>
              <a:buNone/>
            </a:pPr>
            <a:r>
              <a:rPr lang="en-US" sz="1150" dirty="0">
                <a:solidFill>
                  <a:srgbClr val="AFC6DE"/>
                </a:solidFill>
                <a:latin typeface="Calibri" pitchFamily="34" charset="0"/>
                <a:ea typeface="Calibri" pitchFamily="34" charset="-122"/>
                <a:cs typeface="Calibri" pitchFamily="34" charset="-120"/>
              </a:rPr>
              <a:t>Feed every confirmed fraud and every customer dispute back into the next training cycle.</a:t>
            </a:r>
            <a:endParaRPr lang="en-US" sz="1150" dirty="0"/>
          </a:p>
        </p:txBody>
      </p:sp>
      <p:sp>
        <p:nvSpPr>
          <p:cNvPr id="30" name="Shape 28"/>
          <p:cNvSpPr/>
          <p:nvPr/>
        </p:nvSpPr>
        <p:spPr>
          <a:xfrm>
            <a:off x="548640" y="5532120"/>
            <a:ext cx="11091672" cy="868680"/>
          </a:xfrm>
          <a:prstGeom prst="roundRect">
            <a:avLst>
              <a:gd name="adj" fmla="val 8421"/>
            </a:avLst>
          </a:prstGeom>
          <a:solidFill>
            <a:srgbClr val="004C8F"/>
          </a:solidFill>
          <a:ln/>
        </p:spPr>
      </p:sp>
      <p:sp>
        <p:nvSpPr>
          <p:cNvPr id="31" name="Text 29"/>
          <p:cNvSpPr txBox="1"/>
          <p:nvPr/>
        </p:nvSpPr>
        <p:spPr>
          <a:xfrm>
            <a:off x="868680" y="5669280"/>
            <a:ext cx="10469880" cy="621792"/>
          </a:xfrm>
          <a:prstGeom prst="rect">
            <a:avLst/>
          </a:prstGeom>
          <a:noFill/>
          <a:ln/>
        </p:spPr>
        <p:txBody>
          <a:bodyPr wrap="square" lIns="0" tIns="0" rIns="0" bIns="0" rtlCol="0" anchor="ctr"/>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Conclusion: fraud detection is one of the clearest cases for AI in banking — the data already exists, the decision has to be made in milliseconds, and the pattern keeps changing. HDFC Bank's advantage is its data scale; the discipline it needs is governance.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9509760" cy="548640"/>
          </a:xfrm>
          <a:prstGeom prst="rect">
            <a:avLst/>
          </a:prstGeom>
          <a:noFill/>
          <a:ln/>
        </p:spPr>
        <p:txBody>
          <a:bodyPr wrap="square" lIns="0" tIns="0" rIns="0" bIns="0" rtlCol="0" anchor="ctr"/>
          <a:lstStyle/>
          <a:p>
            <a:pPr marL="0" indent="0">
              <a:buNone/>
            </a:pPr>
            <a:r>
              <a:rPr lang="en-US" sz="3200" b="1" dirty="0">
                <a:solidFill>
                  <a:srgbClr val="0A2540"/>
                </a:solidFill>
                <a:latin typeface="Cambria" pitchFamily="34" charset="0"/>
                <a:ea typeface="Cambria" pitchFamily="34" charset="-122"/>
                <a:cs typeface="Cambria" pitchFamily="34" charset="-120"/>
              </a:rPr>
              <a:t>Learning Reflection, References &amp; GitHub</a:t>
            </a:r>
            <a:endParaRPr lang="en-US" sz="3200" dirty="0"/>
          </a:p>
        </p:txBody>
      </p:sp>
      <p:sp>
        <p:nvSpPr>
          <p:cNvPr id="3" name="Text 1"/>
          <p:cNvSpPr txBox="1"/>
          <p:nvPr/>
        </p:nvSpPr>
        <p:spPr>
          <a:xfrm>
            <a:off x="548640" y="950976"/>
            <a:ext cx="9509760" cy="292608"/>
          </a:xfrm>
          <a:prstGeom prst="rect">
            <a:avLst/>
          </a:prstGeom>
          <a:noFill/>
          <a:ln/>
        </p:spPr>
        <p:txBody>
          <a:bodyPr wrap="square" lIns="0" tIns="0" rIns="0" bIns="0" rtlCol="0" anchor="ctr"/>
          <a:lstStyle/>
          <a:p>
            <a:pPr marL="0" indent="0">
              <a:buNone/>
            </a:pPr>
            <a:r>
              <a:rPr lang="en-US" sz="1300" i="1" dirty="0">
                <a:solidFill>
                  <a:srgbClr val="5A6B7C"/>
                </a:solidFill>
                <a:latin typeface="Calibri" pitchFamily="34" charset="0"/>
                <a:ea typeface="Calibri" pitchFamily="34" charset="-122"/>
                <a:cs typeface="Calibri" pitchFamily="34" charset="-120"/>
              </a:rPr>
              <a:t>Final slide</a:t>
            </a:r>
            <a:endParaRPr lang="en-US" sz="1300" dirty="0"/>
          </a:p>
        </p:txBody>
      </p:sp>
      <p:sp>
        <p:nvSpPr>
          <p:cNvPr id="4" name="Shape 2"/>
          <p:cNvSpPr/>
          <p:nvPr/>
        </p:nvSpPr>
        <p:spPr>
          <a:xfrm>
            <a:off x="11109960" y="384048"/>
            <a:ext cx="566928" cy="566928"/>
          </a:xfrm>
          <a:prstGeom prst="ellipse">
            <a:avLst/>
          </a:prstGeom>
          <a:solidFill>
            <a:srgbClr val="F1F5F9"/>
          </a:solidFill>
          <a:ln/>
        </p:spPr>
      </p:sp>
      <p:sp>
        <p:nvSpPr>
          <p:cNvPr id="5" name="Text 3"/>
          <p:cNvSpPr txBox="1"/>
          <p:nvPr/>
        </p:nvSpPr>
        <p:spPr>
          <a:xfrm>
            <a:off x="11109960" y="384048"/>
            <a:ext cx="566928" cy="566928"/>
          </a:xfrm>
          <a:prstGeom prst="rect">
            <a:avLst/>
          </a:prstGeom>
          <a:noFill/>
          <a:ln/>
        </p:spPr>
        <p:txBody>
          <a:bodyPr wrap="square" lIns="0" tIns="0" rIns="0" bIns="0" rtlCol="0" anchor="ctr"/>
          <a:lstStyle/>
          <a:p>
            <a:pPr marL="0" indent="0" algn="ctr">
              <a:buNone/>
            </a:pPr>
            <a:r>
              <a:rPr lang="en-US" sz="1600" b="1" dirty="0">
                <a:solidFill>
                  <a:srgbClr val="004C8F"/>
                </a:solidFill>
                <a:latin typeface="Cambria" pitchFamily="34" charset="0"/>
                <a:ea typeface="Cambria" pitchFamily="34" charset="-122"/>
                <a:cs typeface="Cambria" pitchFamily="34" charset="-120"/>
              </a:rPr>
              <a:t>12</a:t>
            </a:r>
            <a:endParaRPr lang="en-US" sz="1600" dirty="0"/>
          </a:p>
        </p:txBody>
      </p:sp>
      <p:sp>
        <p:nvSpPr>
          <p:cNvPr id="6" name="Text 4"/>
          <p:cNvSpPr txBox="1"/>
          <p:nvPr/>
        </p:nvSpPr>
        <p:spPr>
          <a:xfrm>
            <a:off x="548640" y="1508760"/>
            <a:ext cx="5394960" cy="292608"/>
          </a:xfrm>
          <a:prstGeom prst="rect">
            <a:avLst/>
          </a:prstGeom>
          <a:noFill/>
          <a:ln/>
        </p:spPr>
        <p:txBody>
          <a:bodyPr wrap="square" lIns="0" tIns="0" rIns="0" bIns="0"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3 Key Learnings</a:t>
            </a:r>
            <a:endParaRPr lang="en-US" sz="1400" dirty="0"/>
          </a:p>
        </p:txBody>
      </p:sp>
      <p:sp>
        <p:nvSpPr>
          <p:cNvPr id="7" name="Shape 5"/>
          <p:cNvSpPr/>
          <p:nvPr/>
        </p:nvSpPr>
        <p:spPr>
          <a:xfrm>
            <a:off x="548640" y="1874520"/>
            <a:ext cx="274320" cy="274320"/>
          </a:xfrm>
          <a:prstGeom prst="ellipse">
            <a:avLst/>
          </a:prstGeom>
          <a:solidFill>
            <a:srgbClr val="ED232A"/>
          </a:solidFill>
          <a:ln/>
        </p:spPr>
      </p:sp>
      <p:sp>
        <p:nvSpPr>
          <p:cNvPr id="8" name="Text 6"/>
          <p:cNvSpPr txBox="1"/>
          <p:nvPr/>
        </p:nvSpPr>
        <p:spPr>
          <a:xfrm>
            <a:off x="548640" y="187452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960120" y="1819656"/>
            <a:ext cx="5029200" cy="621792"/>
          </a:xfrm>
          <a:prstGeom prst="rect">
            <a:avLst/>
          </a:prstGeom>
          <a:noFill/>
          <a:ln/>
        </p:spPr>
        <p:txBody>
          <a:bodyPr wrap="square" lIns="0" tIns="0" rIns="0" bIns="0" rtlCol="0" anchor="ctr"/>
          <a:lstStyle/>
          <a:p>
            <a:pPr marL="0" indent="0">
              <a:lnSpc>
                <a:spcPts val="1400"/>
              </a:lnSpc>
              <a:buNone/>
            </a:pPr>
            <a:r>
              <a:rPr lang="en-US" sz="1080" dirty="0">
                <a:solidFill>
                  <a:srgbClr val="3D4C5A"/>
                </a:solidFill>
                <a:latin typeface="Calibri" pitchFamily="34" charset="0"/>
                <a:ea typeface="Calibri" pitchFamily="34" charset="-122"/>
                <a:cs typeface="Calibri" pitchFamily="34" charset="-120"/>
              </a:rPr>
              <a:t>A prompt naming a specific, authoritative source produces citable evidence; a general topic prompt produces confident-sounding but unverifiable claims.</a:t>
            </a:r>
            <a:endParaRPr lang="en-US" sz="1080" dirty="0"/>
          </a:p>
        </p:txBody>
      </p:sp>
      <p:sp>
        <p:nvSpPr>
          <p:cNvPr id="10" name="Shape 8"/>
          <p:cNvSpPr/>
          <p:nvPr/>
        </p:nvSpPr>
        <p:spPr>
          <a:xfrm>
            <a:off x="548640" y="2532888"/>
            <a:ext cx="274320" cy="274320"/>
          </a:xfrm>
          <a:prstGeom prst="ellipse">
            <a:avLst/>
          </a:prstGeom>
          <a:solidFill>
            <a:srgbClr val="ED232A"/>
          </a:solidFill>
          <a:ln/>
        </p:spPr>
      </p:sp>
      <p:sp>
        <p:nvSpPr>
          <p:cNvPr id="11" name="Text 9"/>
          <p:cNvSpPr txBox="1"/>
          <p:nvPr/>
        </p:nvSpPr>
        <p:spPr>
          <a:xfrm>
            <a:off x="548640" y="253288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960120" y="2478024"/>
            <a:ext cx="5029200" cy="621792"/>
          </a:xfrm>
          <a:prstGeom prst="rect">
            <a:avLst/>
          </a:prstGeom>
          <a:noFill/>
          <a:ln/>
        </p:spPr>
        <p:txBody>
          <a:bodyPr wrap="square" lIns="0" tIns="0" rIns="0" bIns="0" rtlCol="0" anchor="ctr"/>
          <a:lstStyle/>
          <a:p>
            <a:pPr marL="0" indent="0">
              <a:lnSpc>
                <a:spcPts val="1400"/>
              </a:lnSpc>
              <a:buNone/>
            </a:pPr>
            <a:r>
              <a:rPr lang="en-US" sz="1080" dirty="0">
                <a:solidFill>
                  <a:srgbClr val="3D4C5A"/>
                </a:solidFill>
                <a:latin typeface="Calibri" pitchFamily="34" charset="0"/>
                <a:ea typeface="Calibri" pitchFamily="34" charset="-122"/>
                <a:cs typeface="Calibri" pitchFamily="34" charset="-120"/>
              </a:rPr>
              <a:t>Secondary sources can describe a real company's AI use in specific technical language without that language coming from the company itself — always check the primary filing.</a:t>
            </a:r>
            <a:endParaRPr lang="en-US" sz="1080" dirty="0"/>
          </a:p>
        </p:txBody>
      </p:sp>
      <p:sp>
        <p:nvSpPr>
          <p:cNvPr id="13" name="Shape 11"/>
          <p:cNvSpPr/>
          <p:nvPr/>
        </p:nvSpPr>
        <p:spPr>
          <a:xfrm>
            <a:off x="548640" y="3191256"/>
            <a:ext cx="274320" cy="274320"/>
          </a:xfrm>
          <a:prstGeom prst="ellipse">
            <a:avLst/>
          </a:prstGeom>
          <a:solidFill>
            <a:srgbClr val="ED232A"/>
          </a:solidFill>
          <a:ln/>
        </p:spPr>
      </p:sp>
      <p:sp>
        <p:nvSpPr>
          <p:cNvPr id="14" name="Text 12"/>
          <p:cNvSpPr txBox="1"/>
          <p:nvPr/>
        </p:nvSpPr>
        <p:spPr>
          <a:xfrm>
            <a:off x="548640" y="319125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txBox="1"/>
          <p:nvPr/>
        </p:nvSpPr>
        <p:spPr>
          <a:xfrm>
            <a:off x="960120" y="3136392"/>
            <a:ext cx="5029200" cy="621792"/>
          </a:xfrm>
          <a:prstGeom prst="rect">
            <a:avLst/>
          </a:prstGeom>
          <a:noFill/>
          <a:ln/>
        </p:spPr>
        <p:txBody>
          <a:bodyPr wrap="square" lIns="0" tIns="0" rIns="0" bIns="0" rtlCol="0" anchor="ctr"/>
          <a:lstStyle/>
          <a:p>
            <a:pPr marL="0" indent="0">
              <a:lnSpc>
                <a:spcPts val="1400"/>
              </a:lnSpc>
              <a:buNone/>
            </a:pPr>
            <a:r>
              <a:rPr lang="en-US" sz="1080" dirty="0">
                <a:solidFill>
                  <a:srgbClr val="3D4C5A"/>
                </a:solidFill>
                <a:latin typeface="Calibri" pitchFamily="34" charset="0"/>
                <a:ea typeface="Calibri" pitchFamily="34" charset="-122"/>
                <a:cs typeface="Calibri" pitchFamily="34" charset="-120"/>
              </a:rPr>
              <a:t>The most defensible move when data doesn't exist in a primary source is to say so, not to fill the gap with a plausible-sounding number.</a:t>
            </a:r>
            <a:endParaRPr lang="en-US" sz="1080" dirty="0"/>
          </a:p>
        </p:txBody>
      </p:sp>
      <p:sp>
        <p:nvSpPr>
          <p:cNvPr id="16" name="Shape 14"/>
          <p:cNvSpPr/>
          <p:nvPr/>
        </p:nvSpPr>
        <p:spPr>
          <a:xfrm>
            <a:off x="548640" y="3849624"/>
            <a:ext cx="5394960" cy="2404872"/>
          </a:xfrm>
          <a:prstGeom prst="roundRect">
            <a:avLst>
              <a:gd name="adj" fmla="val 5161"/>
            </a:avLst>
          </a:prstGeom>
          <a:solidFill>
            <a:srgbClr val="F1F5F9"/>
          </a:solidFill>
          <a:ln w="12700">
            <a:solidFill>
              <a:srgbClr val="F1F5F9"/>
            </a:solidFill>
            <a:prstDash val="solid"/>
          </a:ln>
        </p:spPr>
      </p:sp>
      <p:sp>
        <p:nvSpPr>
          <p:cNvPr id="17" name="Text 15"/>
          <p:cNvSpPr txBox="1"/>
          <p:nvPr/>
        </p:nvSpPr>
        <p:spPr>
          <a:xfrm>
            <a:off x="822960" y="3985404"/>
            <a:ext cx="4846320" cy="274320"/>
          </a:xfrm>
          <a:prstGeom prst="rect">
            <a:avLst/>
          </a:prstGeom>
          <a:noFill/>
          <a:ln/>
        </p:spPr>
        <p:txBody>
          <a:bodyPr wrap="square" lIns="0" tIns="0" rIns="0" bIns="0" rtlCol="0" anchor="ctr"/>
          <a:lstStyle/>
          <a:p>
            <a:pPr marL="0" indent="0">
              <a:buNone/>
            </a:pPr>
            <a:r>
              <a:rPr lang="en-US" sz="1300" b="1" dirty="0">
                <a:solidFill>
                  <a:srgbClr val="004C8F"/>
                </a:solidFill>
                <a:latin typeface="Calibri" pitchFamily="34" charset="0"/>
                <a:ea typeface="Calibri" pitchFamily="34" charset="-122"/>
                <a:cs typeface="Calibri" pitchFamily="34" charset="-120"/>
              </a:rPr>
              <a:t>GitHub Repository</a:t>
            </a:r>
            <a:endParaRPr lang="en-US" sz="1300" dirty="0"/>
          </a:p>
        </p:txBody>
      </p:sp>
      <p:sp>
        <p:nvSpPr>
          <p:cNvPr id="19" name="Text 17"/>
          <p:cNvSpPr txBox="1"/>
          <p:nvPr/>
        </p:nvSpPr>
        <p:spPr>
          <a:xfrm>
            <a:off x="6355080" y="1508760"/>
            <a:ext cx="5303520" cy="292608"/>
          </a:xfrm>
          <a:prstGeom prst="rect">
            <a:avLst/>
          </a:prstGeom>
          <a:noFill/>
          <a:ln/>
        </p:spPr>
        <p:txBody>
          <a:bodyPr wrap="square" lIns="0" tIns="0" rIns="0" bIns="0"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References (APA 7th ed.)</a:t>
            </a:r>
            <a:endParaRPr lang="en-US" sz="1400" dirty="0"/>
          </a:p>
        </p:txBody>
      </p:sp>
      <p:sp>
        <p:nvSpPr>
          <p:cNvPr id="20" name="Text 18"/>
          <p:cNvSpPr txBox="1"/>
          <p:nvPr/>
        </p:nvSpPr>
        <p:spPr>
          <a:xfrm>
            <a:off x="6355080" y="1847088"/>
            <a:ext cx="5303520" cy="320040"/>
          </a:xfrm>
          <a:prstGeom prst="rect">
            <a:avLst/>
          </a:prstGeom>
          <a:noFill/>
          <a:ln/>
        </p:spPr>
        <p:txBody>
          <a:bodyPr wrap="square" lIns="0" tIns="0" rIns="0" bIns="0" rtlCol="0" anchor="ctr"/>
          <a:lstStyle/>
          <a:p>
            <a:pPr marL="0" indent="0">
              <a:lnSpc>
                <a:spcPts val="1050"/>
              </a:lnSpc>
              <a:buNone/>
            </a:pPr>
            <a:r>
              <a:rPr lang="en-US" sz="880" dirty="0">
                <a:solidFill>
                  <a:srgbClr val="5A6B7C"/>
                </a:solidFill>
                <a:latin typeface="Calibri" pitchFamily="34" charset="0"/>
                <a:ea typeface="Calibri" pitchFamily="34" charset="-122"/>
                <a:cs typeface="Calibri" pitchFamily="34" charset="-120"/>
              </a:rPr>
              <a:t>HDFC Bank Limited. (2026). Annual report on Form 20-F for FY2026. U.S. SEC.</a:t>
            </a:r>
            <a:endParaRPr lang="en-US" sz="880" dirty="0"/>
          </a:p>
        </p:txBody>
      </p:sp>
      <p:sp>
        <p:nvSpPr>
          <p:cNvPr id="21" name="Text 19"/>
          <p:cNvSpPr txBox="1"/>
          <p:nvPr/>
        </p:nvSpPr>
        <p:spPr>
          <a:xfrm>
            <a:off x="6355080" y="2185416"/>
            <a:ext cx="5303520" cy="320040"/>
          </a:xfrm>
          <a:prstGeom prst="rect">
            <a:avLst/>
          </a:prstGeom>
          <a:noFill/>
          <a:ln/>
        </p:spPr>
        <p:txBody>
          <a:bodyPr wrap="square" lIns="0" tIns="0" rIns="0" bIns="0" rtlCol="0" anchor="ctr"/>
          <a:lstStyle/>
          <a:p>
            <a:pPr marL="0" indent="0">
              <a:lnSpc>
                <a:spcPts val="1050"/>
              </a:lnSpc>
              <a:buNone/>
            </a:pPr>
            <a:r>
              <a:rPr lang="en-US" sz="880" dirty="0">
                <a:solidFill>
                  <a:srgbClr val="5A6B7C"/>
                </a:solidFill>
                <a:latin typeface="Calibri" pitchFamily="34" charset="0"/>
                <a:ea typeface="Calibri" pitchFamily="34" charset="-122"/>
                <a:cs typeface="Calibri" pitchFamily="34" charset="-120"/>
              </a:rPr>
              <a:t>HDFC Bank Limited. (2026). Q4 FY26 earnings presentation.</a:t>
            </a:r>
            <a:endParaRPr lang="en-US" sz="880" dirty="0"/>
          </a:p>
        </p:txBody>
      </p:sp>
      <p:sp>
        <p:nvSpPr>
          <p:cNvPr id="22" name="Text 20"/>
          <p:cNvSpPr txBox="1"/>
          <p:nvPr/>
        </p:nvSpPr>
        <p:spPr>
          <a:xfrm>
            <a:off x="6355080" y="2523744"/>
            <a:ext cx="5303520" cy="320040"/>
          </a:xfrm>
          <a:prstGeom prst="rect">
            <a:avLst/>
          </a:prstGeom>
          <a:noFill/>
          <a:ln/>
        </p:spPr>
        <p:txBody>
          <a:bodyPr wrap="square" lIns="0" tIns="0" rIns="0" bIns="0" rtlCol="0" anchor="ctr"/>
          <a:lstStyle/>
          <a:p>
            <a:pPr marL="0" indent="0">
              <a:lnSpc>
                <a:spcPts val="1050"/>
              </a:lnSpc>
              <a:buNone/>
            </a:pPr>
            <a:r>
              <a:rPr lang="en-US" sz="880" dirty="0">
                <a:solidFill>
                  <a:srgbClr val="5A6B7C"/>
                </a:solidFill>
                <a:latin typeface="Calibri" pitchFamily="34" charset="0"/>
                <a:ea typeface="Calibri" pitchFamily="34" charset="-122"/>
                <a:cs typeface="Calibri" pitchFamily="34" charset="-120"/>
              </a:rPr>
              <a:t>Reserve Bank of India. (2025). Annual report 2024-25.</a:t>
            </a:r>
            <a:endParaRPr lang="en-US" sz="880" dirty="0"/>
          </a:p>
        </p:txBody>
      </p:sp>
      <p:sp>
        <p:nvSpPr>
          <p:cNvPr id="23" name="Text 21"/>
          <p:cNvSpPr txBox="1"/>
          <p:nvPr/>
        </p:nvSpPr>
        <p:spPr>
          <a:xfrm>
            <a:off x="6355080" y="2862072"/>
            <a:ext cx="5303520" cy="320040"/>
          </a:xfrm>
          <a:prstGeom prst="rect">
            <a:avLst/>
          </a:prstGeom>
          <a:noFill/>
          <a:ln/>
        </p:spPr>
        <p:txBody>
          <a:bodyPr wrap="square" lIns="0" tIns="0" rIns="0" bIns="0" rtlCol="0" anchor="ctr"/>
          <a:lstStyle/>
          <a:p>
            <a:pPr marL="0" indent="0">
              <a:lnSpc>
                <a:spcPts val="1050"/>
              </a:lnSpc>
              <a:buNone/>
            </a:pPr>
            <a:r>
              <a:rPr lang="en-US" sz="880" dirty="0">
                <a:solidFill>
                  <a:srgbClr val="5A6B7C"/>
                </a:solidFill>
                <a:latin typeface="Calibri" pitchFamily="34" charset="0"/>
                <a:ea typeface="Calibri" pitchFamily="34" charset="-122"/>
                <a:cs typeface="Calibri" pitchFamily="34" charset="-120"/>
              </a:rPr>
              <a:t>Reserve Bank of India. (2026). Annual report 2025-26.</a:t>
            </a:r>
            <a:endParaRPr lang="en-US" sz="880" dirty="0"/>
          </a:p>
        </p:txBody>
      </p:sp>
      <p:sp>
        <p:nvSpPr>
          <p:cNvPr id="24" name="Text 22"/>
          <p:cNvSpPr txBox="1"/>
          <p:nvPr/>
        </p:nvSpPr>
        <p:spPr>
          <a:xfrm>
            <a:off x="6355080" y="3200400"/>
            <a:ext cx="5303520" cy="320040"/>
          </a:xfrm>
          <a:prstGeom prst="rect">
            <a:avLst/>
          </a:prstGeom>
          <a:noFill/>
          <a:ln/>
        </p:spPr>
        <p:txBody>
          <a:bodyPr wrap="square" lIns="0" tIns="0" rIns="0" bIns="0" rtlCol="0" anchor="ctr"/>
          <a:lstStyle/>
          <a:p>
            <a:pPr marL="0" indent="0">
              <a:lnSpc>
                <a:spcPts val="1050"/>
              </a:lnSpc>
              <a:buNone/>
            </a:pPr>
            <a:r>
              <a:rPr lang="en-US" sz="880" dirty="0">
                <a:solidFill>
                  <a:srgbClr val="5A6B7C"/>
                </a:solidFill>
                <a:latin typeface="Calibri" pitchFamily="34" charset="0"/>
                <a:ea typeface="Calibri" pitchFamily="34" charset="-122"/>
                <a:cs typeface="Calibri" pitchFamily="34" charset="-120"/>
              </a:rPr>
              <a:t>Business Standard. (2025, May 30). Bank fraud cases fell in FY25, amount rose threefold to ₹36,014 cr: RBI.</a:t>
            </a:r>
            <a:endParaRPr lang="en-US" sz="880" dirty="0"/>
          </a:p>
        </p:txBody>
      </p:sp>
      <p:sp>
        <p:nvSpPr>
          <p:cNvPr id="25" name="Text 23"/>
          <p:cNvSpPr txBox="1"/>
          <p:nvPr/>
        </p:nvSpPr>
        <p:spPr>
          <a:xfrm>
            <a:off x="6355080" y="3538728"/>
            <a:ext cx="5303520" cy="320040"/>
          </a:xfrm>
          <a:prstGeom prst="rect">
            <a:avLst/>
          </a:prstGeom>
          <a:noFill/>
          <a:ln/>
        </p:spPr>
        <p:txBody>
          <a:bodyPr wrap="square" lIns="0" tIns="0" rIns="0" bIns="0" rtlCol="0" anchor="ctr"/>
          <a:lstStyle/>
          <a:p>
            <a:pPr marL="0" indent="0">
              <a:lnSpc>
                <a:spcPts val="1050"/>
              </a:lnSpc>
              <a:buNone/>
            </a:pPr>
            <a:r>
              <a:rPr lang="en-US" sz="880" dirty="0">
                <a:solidFill>
                  <a:srgbClr val="5A6B7C"/>
                </a:solidFill>
                <a:latin typeface="Calibri" pitchFamily="34" charset="0"/>
                <a:ea typeface="Calibri" pitchFamily="34" charset="-122"/>
                <a:cs typeface="Calibri" pitchFamily="34" charset="-120"/>
              </a:rPr>
              <a:t>George, M. Z. H., Alam, M. K., &amp; Hasan, M. T. (2023). Machine learning for fraud detection in digital banking: A systematic literature review. WCSDI, 3(1), 37–61.</a:t>
            </a:r>
            <a:endParaRPr lang="en-US" sz="880" dirty="0"/>
          </a:p>
        </p:txBody>
      </p:sp>
      <p:sp>
        <p:nvSpPr>
          <p:cNvPr id="26" name="Shape 24"/>
          <p:cNvSpPr/>
          <p:nvPr/>
        </p:nvSpPr>
        <p:spPr>
          <a:xfrm>
            <a:off x="6355080" y="4251960"/>
            <a:ext cx="5285232" cy="1417320"/>
          </a:xfrm>
          <a:prstGeom prst="roundRect">
            <a:avLst>
              <a:gd name="adj" fmla="val 5161"/>
            </a:avLst>
          </a:prstGeom>
          <a:solidFill>
            <a:srgbClr val="0A2540"/>
          </a:solidFill>
          <a:ln w="12700">
            <a:solidFill>
              <a:srgbClr val="0A2540"/>
            </a:solidFill>
            <a:prstDash val="solid"/>
          </a:ln>
        </p:spPr>
      </p:sp>
      <p:sp>
        <p:nvSpPr>
          <p:cNvPr id="27" name="Text 25"/>
          <p:cNvSpPr txBox="1"/>
          <p:nvPr/>
        </p:nvSpPr>
        <p:spPr>
          <a:xfrm>
            <a:off x="6629400" y="4407408"/>
            <a:ext cx="4754880" cy="274320"/>
          </a:xfrm>
          <a:prstGeom prst="rect">
            <a:avLst/>
          </a:prstGeom>
          <a:noFill/>
          <a:ln/>
        </p:spPr>
        <p:txBody>
          <a:bodyPr wrap="square" lIns="0" tIns="0" rIns="0" bIns="0" rtlCol="0" anchor="ctr"/>
          <a:lstStyle/>
          <a:p>
            <a:pPr marL="0" indent="0">
              <a:buNone/>
            </a:pPr>
            <a:r>
              <a:rPr lang="en-US" sz="1200" b="1" dirty="0">
                <a:solidFill>
                  <a:srgbClr val="8FB3D9"/>
                </a:solidFill>
                <a:latin typeface="Calibri" pitchFamily="34" charset="0"/>
                <a:ea typeface="Calibri" pitchFamily="34" charset="-122"/>
                <a:cs typeface="Calibri" pitchFamily="34" charset="-120"/>
              </a:rPr>
              <a:t>Academic integrity note</a:t>
            </a:r>
            <a:endParaRPr lang="en-US" sz="1200" dirty="0"/>
          </a:p>
        </p:txBody>
      </p:sp>
      <p:sp>
        <p:nvSpPr>
          <p:cNvPr id="28" name="Text 26"/>
          <p:cNvSpPr txBox="1"/>
          <p:nvPr/>
        </p:nvSpPr>
        <p:spPr>
          <a:xfrm>
            <a:off x="6629400" y="4700016"/>
            <a:ext cx="4754880" cy="868680"/>
          </a:xfrm>
          <a:prstGeom prst="rect">
            <a:avLst/>
          </a:prstGeom>
          <a:noFill/>
          <a:ln/>
        </p:spPr>
        <p:txBody>
          <a:bodyPr wrap="square" lIns="0" tIns="0" rIns="0" bIns="0" rtlCol="0" anchor="ctr"/>
          <a:lstStyle/>
          <a:p>
            <a:pPr marL="0" indent="0">
              <a:lnSpc>
                <a:spcPts val="1500"/>
              </a:lnSpc>
              <a:buNone/>
            </a:pPr>
            <a:r>
              <a:rPr lang="en-US" sz="1050" dirty="0">
                <a:solidFill>
                  <a:srgbClr val="FFFFFF"/>
                </a:solidFill>
                <a:latin typeface="Calibri" pitchFamily="34" charset="0"/>
                <a:ea typeface="Calibri" pitchFamily="34" charset="-122"/>
                <a:cs typeface="Calibri" pitchFamily="34" charset="-120"/>
              </a:rPr>
              <a:t>All figures verified against primary sources — HDFC's SEC filing and RBI annual reports — rather than secondary summaries. AI tools assisted research; analysis and conclusions reflect the student's own understanding.</a:t>
            </a:r>
            <a:endParaRPr lang="en-US" sz="1050" dirty="0"/>
          </a:p>
        </p:txBody>
      </p:sp>
      <p:sp>
        <p:nvSpPr>
          <p:cNvPr id="30" name="TextBox 29">
            <a:extLst>
              <a:ext uri="{FF2B5EF4-FFF2-40B4-BE49-F238E27FC236}">
                <a16:creationId xmlns:a16="http://schemas.microsoft.com/office/drawing/2014/main" id="{F0D11289-03E7-C347-E5CB-90B210825CFD}"/>
              </a:ext>
            </a:extLst>
          </p:cNvPr>
          <p:cNvSpPr txBox="1"/>
          <p:nvPr/>
        </p:nvSpPr>
        <p:spPr>
          <a:xfrm>
            <a:off x="685800" y="4248854"/>
            <a:ext cx="4846320" cy="1615827"/>
          </a:xfrm>
          <a:prstGeom prst="rect">
            <a:avLst/>
          </a:prstGeom>
          <a:noFill/>
        </p:spPr>
        <p:txBody>
          <a:bodyPr wrap="square" rtlCol="0">
            <a:spAutoFit/>
          </a:bodyPr>
          <a:lstStyle/>
          <a:p>
            <a:pPr marL="342900" indent="-342900">
              <a:buFont typeface="+mj-lt"/>
              <a:buAutoNum type="arabicPeriod"/>
            </a:pPr>
            <a:r>
              <a:rPr lang="en-US" sz="1100" dirty="0"/>
              <a:t>Dikshan-https://github.com/dikshan2584bbafai25/</a:t>
            </a:r>
            <a:r>
              <a:rPr lang="en-US" sz="1100" dirty="0" err="1"/>
              <a:t>HDFC_Fraud_detection</a:t>
            </a:r>
            <a:endParaRPr lang="en-US" sz="1100" dirty="0"/>
          </a:p>
          <a:p>
            <a:pPr marL="342900" indent="-342900">
              <a:buFont typeface="+mj-lt"/>
              <a:buAutoNum type="arabicPeriod"/>
            </a:pPr>
            <a:r>
              <a:rPr lang="en-US" sz="1100" dirty="0"/>
              <a:t>Kakul-https://github.com/</a:t>
            </a:r>
            <a:r>
              <a:rPr lang="en-US" sz="1100" dirty="0" err="1"/>
              <a:t>kakullyaarrr</a:t>
            </a:r>
            <a:r>
              <a:rPr lang="en-US" sz="1100" dirty="0"/>
              <a:t>/</a:t>
            </a:r>
            <a:r>
              <a:rPr lang="en-US" sz="1100" dirty="0" err="1"/>
              <a:t>hdfc</a:t>
            </a:r>
            <a:r>
              <a:rPr lang="en-US" sz="1100" dirty="0"/>
              <a:t>-bank-ai-fraud-detection</a:t>
            </a:r>
          </a:p>
          <a:p>
            <a:pPr marL="342900" indent="-342900">
              <a:buFont typeface="+mj-lt"/>
              <a:buAutoNum type="arabicPeriod"/>
            </a:pPr>
            <a:r>
              <a:rPr lang="en-US" sz="1100" dirty="0"/>
              <a:t>Kartik-https://github.com/kartikgaba9379-crypto/</a:t>
            </a:r>
            <a:r>
              <a:rPr lang="en-US" sz="1100" dirty="0" err="1"/>
              <a:t>HDFC_Fraud_detection</a:t>
            </a:r>
            <a:endParaRPr lang="en-US" sz="1100" dirty="0"/>
          </a:p>
          <a:p>
            <a:pPr marL="342900" indent="-342900">
              <a:buFont typeface="+mj-lt"/>
              <a:buAutoNum type="arabicPeriod"/>
            </a:pPr>
            <a:r>
              <a:rPr lang="en-US" sz="1100" dirty="0"/>
              <a:t>Akhilesh-https://github.com/akhilesh2520bbafai25-design/</a:t>
            </a:r>
            <a:r>
              <a:rPr lang="en-US" sz="1100" dirty="0" err="1"/>
              <a:t>HDFC_Fraud_detection</a:t>
            </a:r>
            <a:endParaRPr lang="en-US" sz="1100" dirty="0"/>
          </a:p>
          <a:p>
            <a:pPr marL="342900" indent="-342900">
              <a:buFont typeface="+mj-lt"/>
              <a:buAutoNum type="arabicPeriod"/>
            </a:pPr>
            <a:r>
              <a:rPr lang="en-US" sz="1100" dirty="0"/>
              <a:t>Chesta-https://github.com/chesta2569bbafai25-cyber/</a:t>
            </a:r>
            <a:r>
              <a:rPr lang="en-US" sz="1100" dirty="0" err="1"/>
              <a:t>HDFC_Fraud_detection</a:t>
            </a:r>
            <a:endParaRPr lang="en-US" sz="1100" dirty="0"/>
          </a:p>
          <a:p>
            <a:pPr marL="342900" indent="-342900">
              <a:buFont typeface="+mj-lt"/>
              <a:buAutoNum type="arabicPeriod"/>
            </a:pPr>
            <a:r>
              <a:rPr lang="en-US" sz="1100" dirty="0"/>
              <a:t>Divyansh-</a:t>
            </a:r>
          </a:p>
          <a:p>
            <a:pPr marL="342900" indent="-342900">
              <a:buFont typeface="+mj-lt"/>
              <a:buAutoNum type="arabicPeriod"/>
            </a:pPr>
            <a:r>
              <a:rPr lang="en-US" sz="1100" dirty="0"/>
              <a:t>Dev-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2756</Words>
  <Application>Microsoft Office PowerPoint</Application>
  <PresentationFormat>Widescreen</PresentationFormat>
  <Paragraphs>271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AI/ML for Fraud Detection at HDFC Bank</dc:title>
  <dc:subject>PptxGenJS Presentation</dc:subject>
  <dc:creator>Kakul</dc:creator>
  <cp:lastModifiedBy>Kakul Sharma</cp:lastModifiedBy>
  <cp:revision>3</cp:revision>
  <dcterms:created xsi:type="dcterms:W3CDTF">2026-09-16T05:16:15Z</dcterms:created>
  <dcterms:modified xsi:type="dcterms:W3CDTF">2026-09-16T12:56:24Z</dcterms:modified>
</cp:coreProperties>
</file>